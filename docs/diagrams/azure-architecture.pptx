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7145000" cy="11049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5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2B8A34-F89B-43A6-AB5A-A17E2427A38A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035050" y="1143000"/>
            <a:ext cx="47879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9AF672-9BB4-48C4-B98F-AAEB6E51ED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512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依頼</a:t>
            </a:r>
            <a:r>
              <a:rPr kumimoji="1" lang="en-US" altLang="ja-JP"/>
              <a:t>: 1</a:t>
            </a:r>
            <a:r>
              <a:rPr kumimoji="1" lang="ja-JP" altLang="en-US"/>
              <a:t>枚目に</a:t>
            </a:r>
            <a:r>
              <a:rPr kumimoji="1" lang="en-US" altLang="ja-JP"/>
              <a:t>Azure AI Search</a:t>
            </a:r>
            <a:r>
              <a:rPr kumimoji="1" lang="ja-JP" altLang="en-US"/>
              <a:t>、</a:t>
            </a:r>
            <a:r>
              <a:rPr kumimoji="1" lang="en-US" altLang="ja-JP"/>
              <a:t>Foundry IQ</a:t>
            </a:r>
            <a:r>
              <a:rPr kumimoji="1" lang="ja-JP" altLang="en-US"/>
              <a:t>、</a:t>
            </a:r>
            <a:r>
              <a:rPr kumimoji="1" lang="en-US" altLang="ja-JP"/>
              <a:t>Travel Ops API</a:t>
            </a:r>
            <a:r>
              <a:rPr kumimoji="1" lang="ja-JP" altLang="en-US"/>
              <a:t>をそれぞれ記載し、</a:t>
            </a:r>
            <a:r>
              <a:rPr kumimoji="1" lang="en-US" altLang="ja-JP"/>
              <a:t>Foundry Agent Service</a:t>
            </a:r>
            <a:r>
              <a:rPr kumimoji="1" lang="ja-JP" altLang="en-US"/>
              <a:t>との接続を示す。</a:t>
            </a:r>
            <a:r>
              <a:rPr kumimoji="1" lang="en-US" altLang="ja-JP"/>
              <a:t>Codespaces</a:t>
            </a:r>
            <a:r>
              <a:rPr kumimoji="1" lang="ja-JP" altLang="en-US"/>
              <a:t>は対象外のまま。</a:t>
            </a:r>
            <a:r>
              <a:rPr kumimoji="1" lang="en-US" altLang="ja-JP"/>
              <a:t>2</a:t>
            </a:r>
            <a:r>
              <a:rPr kumimoji="1" lang="ja-JP" altLang="en-US"/>
              <a:t>枚目は参加者の</a:t>
            </a:r>
            <a:r>
              <a:rPr kumimoji="1" lang="en-US" altLang="ja-JP"/>
              <a:t>Azure Portal</a:t>
            </a:r>
            <a:r>
              <a:rPr kumimoji="1" lang="ja-JP" altLang="en-US"/>
              <a:t>操作とカスタムテンプレート内部処理を分ける。
図はカスタムテンプレートの基盤と、</a:t>
            </a:r>
            <a:r>
              <a:rPr kumimoji="1" lang="en-US" altLang="ja-JP"/>
              <a:t>Labs 2–4</a:t>
            </a:r>
            <a:r>
              <a:rPr kumimoji="1" lang="ja-JP" altLang="en-US"/>
              <a:t>で追加する論理機能を区別する。</a:t>
            </a:r>
            <a:r>
              <a:rPr kumimoji="1" lang="en-US" altLang="ja-JP"/>
              <a:t>Agent Service</a:t>
            </a:r>
            <a:r>
              <a:rPr kumimoji="1" lang="ja-JP" altLang="en-US"/>
              <a:t>内は</a:t>
            </a:r>
            <a:r>
              <a:rPr kumimoji="1" lang="en-US" altLang="ja-JP"/>
              <a:t>Prompt Agent contoso-travel-assistant</a:t>
            </a:r>
            <a:r>
              <a:rPr kumimoji="1" lang="ja-JP" altLang="en-US"/>
              <a:t>。</a:t>
            </a:r>
            <a:r>
              <a:rPr kumimoji="1" lang="en-US" altLang="ja-JP"/>
              <a:t>Lab 2</a:t>
            </a:r>
            <a:r>
              <a:rPr kumimoji="1" lang="ja-JP" altLang="en-US"/>
              <a:t>は</a:t>
            </a:r>
            <a:r>
              <a:rPr kumimoji="1" lang="en-US" altLang="ja-JP"/>
              <a:t>Azure AI Search</a:t>
            </a:r>
            <a:r>
              <a:rPr kumimoji="1" lang="ja-JP" altLang="en-US"/>
              <a:t>の</a:t>
            </a:r>
            <a:r>
              <a:rPr kumimoji="1" lang="en-US" altLang="ja-JP"/>
              <a:t>policy index</a:t>
            </a:r>
            <a:r>
              <a:rPr kumimoji="1" lang="ja-JP" altLang="en-US"/>
              <a:t>を直接検索する。</a:t>
            </a:r>
            <a:r>
              <a:rPr kumimoji="1" lang="en-US" altLang="ja-JP"/>
              <a:t>Lab 3</a:t>
            </a:r>
            <a:r>
              <a:rPr kumimoji="1" lang="ja-JP" altLang="en-US"/>
              <a:t>は直接検索ツールを</a:t>
            </a:r>
            <a:r>
              <a:rPr kumimoji="1" lang="en-US" altLang="ja-JP"/>
              <a:t>Remove</a:t>
            </a:r>
            <a:r>
              <a:rPr kumimoji="1" lang="ja-JP" altLang="en-US"/>
              <a:t>し、</a:t>
            </a:r>
            <a:r>
              <a:rPr kumimoji="1" lang="en-US" altLang="ja-JP"/>
              <a:t>Knowledge base contoso-travel-knowledge-lab</a:t>
            </a:r>
            <a:r>
              <a:rPr kumimoji="1" lang="ja-JP" altLang="en-US"/>
              <a:t>に切り替える。この</a:t>
            </a:r>
            <a:r>
              <a:rPr kumimoji="1" lang="en-US" altLang="ja-JP"/>
              <a:t>2</a:t>
            </a:r>
            <a:r>
              <a:rPr kumimoji="1" lang="ja-JP" altLang="en-US"/>
              <a:t>経路は同時有効ではない。</a:t>
            </a:r>
            <a:r>
              <a:rPr kumimoji="1" lang="en-US" altLang="ja-JP"/>
              <a:t>Foundry IQ</a:t>
            </a:r>
            <a:r>
              <a:rPr kumimoji="1" lang="ja-JP" altLang="en-US"/>
              <a:t>は</a:t>
            </a:r>
            <a:r>
              <a:rPr kumimoji="1" lang="en-US" altLang="ja-JP"/>
              <a:t>Azure AI Search</a:t>
            </a:r>
            <a:r>
              <a:rPr kumimoji="1" lang="ja-JP" altLang="en-US"/>
              <a:t>上の</a:t>
            </a:r>
            <a:r>
              <a:rPr kumimoji="1" lang="en-US" altLang="ja-JP"/>
              <a:t>Knowledge base</a:t>
            </a:r>
            <a:r>
              <a:rPr kumimoji="1" lang="ja-JP" altLang="en-US"/>
              <a:t>として同じ検索サービスの枠に置き、</a:t>
            </a:r>
            <a:r>
              <a:rPr kumimoji="1" lang="en-US" altLang="ja-JP"/>
              <a:t>2</a:t>
            </a:r>
            <a:r>
              <a:rPr kumimoji="1" lang="ja-JP" altLang="en-US"/>
              <a:t>つの</a:t>
            </a:r>
            <a:r>
              <a:rPr kumimoji="1" lang="en-US" altLang="ja-JP"/>
              <a:t>indexed knowledge source</a:t>
            </a:r>
            <a:r>
              <a:rPr kumimoji="1" lang="ja-JP" altLang="en-US"/>
              <a:t>から</a:t>
            </a:r>
            <a:r>
              <a:rPr kumimoji="1" lang="en-US" altLang="ja-JP"/>
              <a:t>policy/approval index</a:t>
            </a:r>
            <a:r>
              <a:rPr kumimoji="1" lang="ja-JP" altLang="en-US"/>
              <a:t>を参照する。</a:t>
            </a:r>
            <a:r>
              <a:rPr kumimoji="1" lang="en-US" altLang="ja-JP"/>
              <a:t>Medium</a:t>
            </a:r>
            <a:r>
              <a:rPr kumimoji="1" lang="ja-JP" altLang="en-US"/>
              <a:t>の検索計画は</a:t>
            </a:r>
            <a:r>
              <a:rPr kumimoji="1" lang="en-US" altLang="ja-JP"/>
              <a:t>gpt-5.5</a:t>
            </a:r>
            <a:r>
              <a:rPr kumimoji="1" lang="ja-JP" altLang="en-US"/>
              <a:t>を使用する。初期データの埋め込みは</a:t>
            </a:r>
            <a:r>
              <a:rPr kumimoji="1" lang="en-US" altLang="ja-JP"/>
              <a:t>Search</a:t>
            </a:r>
            <a:r>
              <a:rPr kumimoji="1" lang="ja-JP" altLang="en-US"/>
              <a:t>サービスではなく</a:t>
            </a:r>
            <a:r>
              <a:rPr kumimoji="1" lang="en-US" altLang="ja-JP"/>
              <a:t>bootstrap_data.py</a:t>
            </a:r>
            <a:r>
              <a:rPr kumimoji="1" lang="ja-JP" altLang="en-US"/>
              <a:t>が</a:t>
            </a:r>
            <a:r>
              <a:rPr kumimoji="1" lang="en-US" altLang="ja-JP"/>
              <a:t>OpenAI</a:t>
            </a:r>
            <a:r>
              <a:rPr kumimoji="1" lang="ja-JP" altLang="en-US"/>
              <a:t>クライアントで生成するため、</a:t>
            </a:r>
            <a:r>
              <a:rPr kumimoji="1" lang="en-US" altLang="ja-JP"/>
              <a:t>Search→</a:t>
            </a:r>
            <a:r>
              <a:rPr kumimoji="1" lang="ja-JP" altLang="en-US"/>
              <a:t>モデルの埋め込み通信は描かない。
</a:t>
            </a:r>
            <a:r>
              <a:rPr kumimoji="1" lang="en-US" altLang="ja-JP"/>
              <a:t>Lab 4</a:t>
            </a:r>
            <a:r>
              <a:rPr kumimoji="1" lang="ja-JP" altLang="en-US"/>
              <a:t>は</a:t>
            </a:r>
            <a:r>
              <a:rPr kumimoji="1" lang="en-US" altLang="ja-JP"/>
              <a:t>Knowledge</a:t>
            </a:r>
            <a:r>
              <a:rPr kumimoji="1" lang="ja-JP" altLang="en-US"/>
              <a:t>を残し、</a:t>
            </a:r>
            <a:r>
              <a:rPr kumimoji="1" lang="en-US" altLang="ja-JP"/>
              <a:t>Agent→Toolbox</a:t>
            </a:r>
            <a:r>
              <a:rPr kumimoji="1" lang="ja-JP" altLang="en-US"/>
              <a:t>を</a:t>
            </a:r>
            <a:r>
              <a:rPr kumimoji="1" lang="en-US" altLang="ja-JP"/>
              <a:t>MCP / Project Managed Identity</a:t>
            </a:r>
            <a:r>
              <a:rPr kumimoji="1" lang="ja-JP" altLang="en-US"/>
              <a:t>で接続。</a:t>
            </a:r>
            <a:r>
              <a:rPr kumimoji="1" lang="en-US" altLang="ja-JP"/>
              <a:t>Toolbox→Travel Ops API</a:t>
            </a:r>
            <a:r>
              <a:rPr kumimoji="1" lang="ja-JP" altLang="en-US"/>
              <a:t>のみ</a:t>
            </a:r>
            <a:r>
              <a:rPr kumimoji="1" lang="en-US" altLang="ja-JP"/>
              <a:t>OpenAPI / Anonymous HTTPS</a:t>
            </a:r>
            <a:r>
              <a:rPr kumimoji="1" lang="ja-JP" altLang="en-US"/>
              <a:t>。</a:t>
            </a:r>
            <a:r>
              <a:rPr kumimoji="1" lang="en-US" altLang="ja-JP"/>
              <a:t>API</a:t>
            </a:r>
            <a:r>
              <a:rPr kumimoji="1" lang="ja-JP" altLang="en-US"/>
              <a:t>は</a:t>
            </a:r>
            <a:r>
              <a:rPr kumimoji="1" lang="en-US" altLang="ja-JP"/>
              <a:t>Container Apps</a:t>
            </a:r>
            <a:r>
              <a:rPr kumimoji="1" lang="ja-JP" altLang="en-US"/>
              <a:t>上の合成データ用</a:t>
            </a:r>
            <a:r>
              <a:rPr kumimoji="1" lang="en-US" altLang="ja-JP"/>
              <a:t>FastAPI</a:t>
            </a:r>
            <a:r>
              <a:rPr kumimoji="1" lang="ja-JP" altLang="en-US"/>
              <a:t>で、</a:t>
            </a:r>
            <a:r>
              <a:rPr kumimoji="1" lang="en-US" altLang="ja-JP"/>
              <a:t>health</a:t>
            </a:r>
            <a:r>
              <a:rPr kumimoji="1" lang="ja-JP" altLang="en-US"/>
              <a:t>、</a:t>
            </a:r>
            <a:r>
              <a:rPr kumimoji="1" lang="en-US" altLang="ja-JP"/>
              <a:t>per-diem</a:t>
            </a:r>
            <a:r>
              <a:rPr kumimoji="1" lang="ja-JP" altLang="en-US"/>
              <a:t>、</a:t>
            </a:r>
            <a:r>
              <a:rPr kumimoji="1" lang="en-US" altLang="ja-JP"/>
              <a:t>trip-estimates</a:t>
            </a:r>
            <a:r>
              <a:rPr kumimoji="1" lang="ja-JP" altLang="en-US"/>
              <a:t>、</a:t>
            </a:r>
            <a:r>
              <a:rPr kumimoji="1" lang="en-US" altLang="ja-JP"/>
              <a:t>preapprovals</a:t>
            </a:r>
            <a:r>
              <a:rPr kumimoji="1" lang="ja-JP" altLang="en-US"/>
              <a:t>の</a:t>
            </a:r>
            <a:r>
              <a:rPr kumimoji="1" lang="en-US" altLang="ja-JP"/>
              <a:t>4</a:t>
            </a:r>
            <a:r>
              <a:rPr kumimoji="1" lang="ja-JP" altLang="en-US"/>
              <a:t>操作。</a:t>
            </a:r>
            <a:r>
              <a:rPr kumimoji="1" lang="en-US" altLang="ja-JP"/>
              <a:t>API</a:t>
            </a:r>
            <a:r>
              <a:rPr kumimoji="1" lang="ja-JP" altLang="en-US"/>
              <a:t>への直接接続と誤認させない。</a:t>
            </a:r>
            <a:r>
              <a:rPr kumimoji="1" lang="en-US" altLang="ja-JP"/>
              <a:t>Tool Search</a:t>
            </a:r>
            <a:r>
              <a:rPr kumimoji="1" lang="ja-JP" altLang="en-US"/>
              <a:t>、</a:t>
            </a:r>
            <a:r>
              <a:rPr kumimoji="1" lang="en-US" altLang="ja-JP"/>
              <a:t>Skills</a:t>
            </a:r>
            <a:r>
              <a:rPr kumimoji="1" lang="ja-JP" altLang="en-US"/>
              <a:t>、</a:t>
            </a:r>
            <a:r>
              <a:rPr kumimoji="1" lang="en-US" altLang="ja-JP"/>
              <a:t>Code Interpreter</a:t>
            </a:r>
            <a:r>
              <a:rPr kumimoji="1" lang="ja-JP" altLang="en-US"/>
              <a:t>、条件付き</a:t>
            </a:r>
            <a:r>
              <a:rPr kumimoji="1" lang="en-US" altLang="ja-JP"/>
              <a:t>Web Search</a:t>
            </a:r>
            <a:r>
              <a:rPr kumimoji="1" lang="ja-JP" altLang="en-US"/>
              <a:t>の内部詳細は省略。</a:t>
            </a:r>
            <a:r>
              <a:rPr kumimoji="1" lang="en-US" altLang="ja-JP"/>
              <a:t>Foundry</a:t>
            </a:r>
            <a:r>
              <a:rPr kumimoji="1" lang="ja-JP" altLang="en-US"/>
              <a:t>のトレースは</a:t>
            </a:r>
            <a:r>
              <a:rPr kumimoji="1" lang="en-US" altLang="ja-JP"/>
              <a:t>Application Insights</a:t>
            </a:r>
            <a:r>
              <a:rPr kumimoji="1" lang="ja-JP" altLang="en-US"/>
              <a:t>、</a:t>
            </a:r>
            <a:r>
              <a:rPr kumimoji="1" lang="en-US" altLang="ja-JP"/>
              <a:t>API</a:t>
            </a:r>
            <a:r>
              <a:rPr kumimoji="1" lang="ja-JP" altLang="en-US"/>
              <a:t>環境ログは</a:t>
            </a:r>
            <a:r>
              <a:rPr kumimoji="1" lang="en-US" altLang="ja-JP"/>
              <a:t>Log Analytics</a:t>
            </a:r>
            <a:r>
              <a:rPr kumimoji="1" lang="ja-JP" altLang="en-US"/>
              <a:t>。</a:t>
            </a:r>
            <a:r>
              <a:rPr kumimoji="1" lang="en-US" altLang="ja-JP"/>
              <a:t>GlobalStandard</a:t>
            </a:r>
            <a:r>
              <a:rPr kumimoji="1" lang="ja-JP" altLang="en-US"/>
              <a:t>の推論処理は</a:t>
            </a:r>
            <a:r>
              <a:rPr kumimoji="1" lang="en-US" altLang="ja-JP"/>
              <a:t>Japan East</a:t>
            </a:r>
            <a:r>
              <a:rPr kumimoji="1" lang="ja-JP" altLang="en-US"/>
              <a:t>に限定されない。
確認したソース</a:t>
            </a:r>
            <a:r>
              <a:rPr kumimoji="1" lang="en-US" altLang="ja-JP"/>
              <a:t>: infra/main.bicep:113–318,526–589; labs/02-prompt-agent.md:90–121; labs/03-rag-foundry-iq.md:25–93; labs/04-tools-toolbox.md:87–125,178–205; scripts/create_toolbox.py:83–132,403–513; scripts/connect_toolbox.py:37–63; scripts/bootstrap_data.py:1068–1107; src/travel-api/travel_api/adapters/api/routes.py:49–145</a:t>
            </a:r>
            <a:r>
              <a:rPr kumimoji="1" lang="ja-JP" altLang="en-US"/>
              <a:t>。</a:t>
            </a:r>
            <a:r>
              <a:rPr kumimoji="1" lang="en-US" altLang="ja-JP"/>
              <a:t>Azure</a:t>
            </a:r>
            <a:r>
              <a:rPr kumimoji="1" lang="ja-JP" altLang="en-US"/>
              <a:t>実環境への操作は行っていない。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AF672-9BB4-48C4-B98F-AAEB6E51ED65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3746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依頼</a:t>
            </a:r>
            <a:r>
              <a:rPr kumimoji="1" lang="en-US" altLang="ja-JP"/>
              <a:t>: 2</a:t>
            </a:r>
            <a:r>
              <a:rPr kumimoji="1" lang="ja-JP" altLang="en-US"/>
              <a:t>枚目を「</a:t>
            </a:r>
            <a:r>
              <a:rPr kumimoji="1" lang="en-US" altLang="ja-JP"/>
              <a:t>Azure Portal </a:t>
            </a:r>
            <a:r>
              <a:rPr kumimoji="1" lang="ja-JP" altLang="en-US"/>
              <a:t>から参加者にて実行」と「カスタムテンプレートの内部処理」に分け、リポジトリ内のソースと照合する。
参加者の操作は専用</a:t>
            </a:r>
            <a:r>
              <a:rPr kumimoji="1" lang="en-US" altLang="ja-JP"/>
              <a:t>RG</a:t>
            </a:r>
            <a:r>
              <a:rPr kumimoji="1" lang="ja-JP" altLang="en-US"/>
              <a:t>を手動作成、</a:t>
            </a:r>
            <a:r>
              <a:rPr kumimoji="1" lang="en-US" altLang="ja-JP"/>
              <a:t>azuredeploy.json</a:t>
            </a:r>
            <a:r>
              <a:rPr kumimoji="1" lang="ja-JP" altLang="en-US"/>
              <a:t>を読み込み、</a:t>
            </a:r>
            <a:r>
              <a:rPr kumimoji="1" lang="en-US" altLang="ja-JP"/>
              <a:t>Subscription</a:t>
            </a:r>
            <a:r>
              <a:rPr kumimoji="1" lang="ja-JP" altLang="en-US"/>
              <a:t>と既存</a:t>
            </a:r>
            <a:r>
              <a:rPr kumimoji="1" lang="en-US" altLang="ja-JP"/>
              <a:t>RG</a:t>
            </a:r>
            <a:r>
              <a:rPr kumimoji="1" lang="ja-JP" altLang="en-US"/>
              <a:t>を選んで既定値のまま</a:t>
            </a:r>
            <a:r>
              <a:rPr kumimoji="1" lang="en-US" altLang="ja-JP"/>
              <a:t>Create</a:t>
            </a:r>
            <a:r>
              <a:rPr kumimoji="1" lang="ja-JP" altLang="en-US"/>
              <a:t>、全体</a:t>
            </a:r>
            <a:r>
              <a:rPr kumimoji="1" lang="en-US" altLang="ja-JP"/>
              <a:t>Succeeded</a:t>
            </a:r>
            <a:r>
              <a:rPr kumimoji="1" lang="ja-JP" altLang="en-US"/>
              <a:t>と</a:t>
            </a:r>
            <a:r>
              <a:rPr kumimoji="1" lang="en-US" altLang="ja-JP"/>
              <a:t>workshopContext.setup_status=complete</a:t>
            </a:r>
            <a:r>
              <a:rPr kumimoji="1" lang="ja-JP" altLang="en-US"/>
              <a:t>を確認すること。初期化用</a:t>
            </a:r>
            <a:r>
              <a:rPr kumimoji="1" lang="en-US" altLang="ja-JP"/>
              <a:t>CLI</a:t>
            </a:r>
            <a:r>
              <a:rPr kumimoji="1" lang="ja-JP" altLang="en-US"/>
              <a:t>や</a:t>
            </a:r>
            <a:r>
              <a:rPr kumimoji="1" lang="en-US" altLang="ja-JP"/>
              <a:t>Python</a:t>
            </a:r>
            <a:r>
              <a:rPr kumimoji="1" lang="ja-JP" altLang="en-US"/>
              <a:t>を参加者</a:t>
            </a:r>
            <a:r>
              <a:rPr kumimoji="1" lang="en-US" altLang="ja-JP"/>
              <a:t>PC</a:t>
            </a:r>
            <a:r>
              <a:rPr kumimoji="1" lang="ja-JP" altLang="en-US"/>
              <a:t>で実行しない。
内部の基盤リソース・接続・</a:t>
            </a:r>
            <a:r>
              <a:rPr kumimoji="1" lang="en-US" altLang="ja-JP"/>
              <a:t>RBAC</a:t>
            </a:r>
            <a:r>
              <a:rPr kumimoji="1" lang="ja-JP" altLang="en-US"/>
              <a:t>は</a:t>
            </a:r>
            <a:r>
              <a:rPr kumimoji="1" lang="en-US" altLang="ja-JP"/>
              <a:t>Bicep</a:t>
            </a:r>
            <a:r>
              <a:rPr kumimoji="1" lang="ja-JP" altLang="en-US"/>
              <a:t>の依存関係に従って作成され、全体を逐次実行する指定ではない。ただし</a:t>
            </a:r>
            <a:r>
              <a:rPr kumimoji="1" lang="en-US" altLang="ja-JP"/>
              <a:t>Foundry</a:t>
            </a:r>
            <a:r>
              <a:rPr kumimoji="1" lang="ja-JP" altLang="en-US"/>
              <a:t>の</a:t>
            </a:r>
            <a:r>
              <a:rPr kumimoji="1" lang="en-US" altLang="ja-JP"/>
              <a:t>project→primary→evaluation→embedding</a:t>
            </a:r>
            <a:r>
              <a:rPr kumimoji="1" lang="ja-JP" altLang="en-US"/>
              <a:t>の</a:t>
            </a:r>
            <a:r>
              <a:rPr kumimoji="1" lang="en-US" altLang="ja-JP"/>
              <a:t>PUT</a:t>
            </a:r>
            <a:r>
              <a:rPr kumimoji="1" lang="ja-JP" altLang="en-US"/>
              <a:t>は直列化される。</a:t>
            </a:r>
            <a:r>
              <a:rPr kumimoji="1" lang="en-US" altLang="ja-JP"/>
              <a:t>Deployment Scripts</a:t>
            </a:r>
            <a:r>
              <a:rPr kumimoji="1" lang="ja-JP" altLang="en-US"/>
              <a:t>は必要なモデル、</a:t>
            </a:r>
            <a:r>
              <a:rPr kumimoji="1" lang="en-US" altLang="ja-JP"/>
              <a:t>Search</a:t>
            </a:r>
            <a:r>
              <a:rPr kumimoji="1" lang="ja-JP" altLang="en-US"/>
              <a:t>、全接続、必要な</a:t>
            </a:r>
            <a:r>
              <a:rPr kumimoji="1" lang="en-US" altLang="ja-JP"/>
              <a:t>RBAC</a:t>
            </a:r>
            <a:r>
              <a:rPr kumimoji="1" lang="ja-JP" altLang="en-US"/>
              <a:t>の完了後に開始。専用</a:t>
            </a:r>
            <a:r>
              <a:rPr kumimoji="1" lang="en-US" altLang="ja-JP"/>
              <a:t>UAMI</a:t>
            </a:r>
            <a:r>
              <a:rPr kumimoji="1" lang="ja-JP" altLang="en-US"/>
              <a:t>を使用する。固定</a:t>
            </a:r>
            <a:r>
              <a:rPr kumimoji="1" lang="en-US" altLang="ja-JP"/>
              <a:t>sourceRevision</a:t>
            </a:r>
            <a:r>
              <a:rPr kumimoji="1" lang="ja-JP" altLang="en-US"/>
              <a:t>の</a:t>
            </a:r>
            <a:r>
              <a:rPr kumimoji="1" lang="en-US" altLang="ja-JP"/>
              <a:t>GitHub</a:t>
            </a:r>
            <a:r>
              <a:rPr kumimoji="1" lang="ja-JP" altLang="en-US"/>
              <a:t>アーカイブを取得し、独立</a:t>
            </a:r>
            <a:r>
              <a:rPr kumimoji="1" lang="en-US" altLang="ja-JP"/>
              <a:t>Python</a:t>
            </a:r>
            <a:r>
              <a:rPr kumimoji="1" lang="ja-JP" altLang="en-US"/>
              <a:t>環境を準備する。</a:t>
            </a:r>
            <a:r>
              <a:rPr kumimoji="1" lang="en-US" altLang="ja-JP"/>
              <a:t>bootstrap_custom_template.py</a:t>
            </a:r>
            <a:r>
              <a:rPr kumimoji="1" lang="ja-JP" altLang="en-US"/>
              <a:t>は</a:t>
            </a:r>
            <a:r>
              <a:rPr kumimoji="1" lang="en-US" altLang="ja-JP"/>
              <a:t>manifest/schema/checksum</a:t>
            </a:r>
            <a:r>
              <a:rPr kumimoji="1" lang="ja-JP" altLang="en-US"/>
              <a:t>検証後に、</a:t>
            </a:r>
            <a:r>
              <a:rPr kumimoji="1" lang="en-US" altLang="ja-JP"/>
              <a:t>Search policy</a:t>
            </a:r>
            <a:r>
              <a:rPr kumimoji="1" lang="ja-JP" altLang="en-US"/>
              <a:t>、</a:t>
            </a:r>
            <a:r>
              <a:rPr kumimoji="1" lang="en-US" altLang="ja-JP"/>
              <a:t>Search approval</a:t>
            </a:r>
            <a:r>
              <a:rPr kumimoji="1" lang="ja-JP" altLang="en-US"/>
              <a:t>、</a:t>
            </a:r>
            <a:r>
              <a:rPr kumimoji="1" lang="en-US" altLang="ja-JP"/>
              <a:t>prepare-evaluation</a:t>
            </a:r>
            <a:r>
              <a:rPr kumimoji="1" lang="ja-JP" altLang="en-US"/>
              <a:t>、</a:t>
            </a:r>
            <a:r>
              <a:rPr kumimoji="1" lang="en-US" altLang="ja-JP"/>
              <a:t>validate-environment</a:t>
            </a:r>
            <a:r>
              <a:rPr kumimoji="1" lang="ja-JP" altLang="en-US"/>
              <a:t>の順で実行する。
初期データの埋め込みは</a:t>
            </a:r>
            <a:r>
              <a:rPr kumimoji="1" lang="en-US" altLang="ja-JP"/>
              <a:t>bootstrap_data.py</a:t>
            </a:r>
            <a:r>
              <a:rPr kumimoji="1" lang="ja-JP" altLang="en-US"/>
              <a:t>が</a:t>
            </a:r>
            <a:r>
              <a:rPr kumimoji="1" lang="en-US" altLang="ja-JP"/>
              <a:t>OpenAI</a:t>
            </a:r>
            <a:r>
              <a:rPr kumimoji="1" lang="ja-JP" altLang="en-US"/>
              <a:t>クライアントで生成し</a:t>
            </a:r>
            <a:r>
              <a:rPr kumimoji="1" lang="en-US" altLang="ja-JP"/>
              <a:t>Search</a:t>
            </a:r>
            <a:r>
              <a:rPr kumimoji="1" lang="ja-JP" altLang="en-US"/>
              <a:t>へ登録する。</a:t>
            </a:r>
            <a:r>
              <a:rPr kumimoji="1" lang="en-US" altLang="ja-JP"/>
              <a:t>run_evaluation.py</a:t>
            </a:r>
            <a:r>
              <a:rPr kumimoji="1" lang="ja-JP" altLang="en-US"/>
              <a:t>の</a:t>
            </a:r>
            <a:r>
              <a:rPr kumimoji="1" lang="en-US" altLang="ja-JP"/>
              <a:t>--prepare-only</a:t>
            </a:r>
            <a:r>
              <a:rPr kumimoji="1" lang="ja-JP" altLang="en-US"/>
              <a:t>は</a:t>
            </a:r>
            <a:r>
              <a:rPr kumimoji="1" lang="en-US" altLang="ja-JP"/>
              <a:t>2 datasets</a:t>
            </a:r>
            <a:r>
              <a:rPr kumimoji="1" lang="ja-JP" altLang="en-US"/>
              <a:t>と</a:t>
            </a:r>
            <a:r>
              <a:rPr kumimoji="1" lang="en-US" altLang="ja-JP"/>
              <a:t>rubric</a:t>
            </a:r>
            <a:r>
              <a:rPr kumimoji="1" lang="ja-JP" altLang="en-US"/>
              <a:t>を登録して</a:t>
            </a:r>
            <a:r>
              <a:rPr kumimoji="1" lang="en-US" altLang="ja-JP"/>
              <a:t>return</a:t>
            </a:r>
            <a:r>
              <a:rPr kumimoji="1" lang="ja-JP" altLang="en-US"/>
              <a:t>し、評価・最適化ジョブは実行しない。検証は</a:t>
            </a:r>
            <a:r>
              <a:rPr kumimoji="1" lang="en-US" altLang="ja-JP"/>
              <a:t>context</a:t>
            </a:r>
            <a:r>
              <a:rPr kumimoji="1" lang="ja-JP" altLang="en-US"/>
              <a:t>、主要リソース、対象参加者の</a:t>
            </a:r>
            <a:r>
              <a:rPr kumimoji="1" lang="en-US" altLang="ja-JP"/>
              <a:t>Foundry User</a:t>
            </a:r>
            <a:r>
              <a:rPr kumimoji="1" lang="ja-JP" altLang="en-US"/>
              <a:t>ロール、</a:t>
            </a:r>
            <a:r>
              <a:rPr kumimoji="1" lang="en-US" altLang="ja-JP"/>
              <a:t>API health</a:t>
            </a:r>
            <a:r>
              <a:rPr kumimoji="1" lang="ja-JP" altLang="en-US"/>
              <a:t>、</a:t>
            </a:r>
            <a:r>
              <a:rPr kumimoji="1" lang="en-US" altLang="ja-JP"/>
              <a:t>Search</a:t>
            </a:r>
            <a:r>
              <a:rPr kumimoji="1" lang="ja-JP" altLang="en-US"/>
              <a:t>のスキーマと件数。対象参加者としてすべてのサービスを呼び出す通し試験ではない。全段階成功後のみ</a:t>
            </a:r>
            <a:r>
              <a:rPr kumimoji="1" lang="en-US" altLang="ja-JP"/>
              <a:t>status complete</a:t>
            </a:r>
            <a:r>
              <a:rPr kumimoji="1" lang="ja-JP" altLang="en-US"/>
              <a:t>を</a:t>
            </a:r>
            <a:r>
              <a:rPr kumimoji="1" lang="en-US" altLang="ja-JP"/>
              <a:t>AZ_SCRIPTS_OUTPUT_PATH</a:t>
            </a:r>
            <a:r>
              <a:rPr kumimoji="1" lang="ja-JP" altLang="en-US"/>
              <a:t>へ書き出す。途中失敗は完了出力を作らず</a:t>
            </a:r>
            <a:r>
              <a:rPr kumimoji="1" lang="en-US" altLang="ja-JP"/>
              <a:t>ARM</a:t>
            </a:r>
            <a:r>
              <a:rPr kumimoji="1" lang="ja-JP" altLang="en-US"/>
              <a:t>側も失敗。補助</a:t>
            </a:r>
            <a:r>
              <a:rPr kumimoji="1" lang="en-US" altLang="ja-JP"/>
              <a:t>ACI/Storage</a:t>
            </a:r>
            <a:r>
              <a:rPr kumimoji="1" lang="ja-JP" altLang="en-US"/>
              <a:t>は成功時片付け、失敗時保持</a:t>
            </a:r>
            <a:r>
              <a:rPr kumimoji="1" lang="en-US" altLang="ja-JP"/>
              <a:t>1</a:t>
            </a:r>
            <a:r>
              <a:rPr kumimoji="1" lang="ja-JP" altLang="en-US"/>
              <a:t>日、実行上限</a:t>
            </a:r>
            <a:r>
              <a:rPr kumimoji="1" lang="en-US" altLang="ja-JP"/>
              <a:t>1</a:t>
            </a:r>
            <a:r>
              <a:rPr kumimoji="1" lang="ja-JP" altLang="en-US"/>
              <a:t>時間。初期化用</a:t>
            </a:r>
            <a:r>
              <a:rPr kumimoji="1" lang="en-US" altLang="ja-JP"/>
              <a:t>UAMI</a:t>
            </a:r>
            <a:r>
              <a:rPr kumimoji="1" lang="ja-JP" altLang="en-US"/>
              <a:t>は専用</a:t>
            </a:r>
            <a:r>
              <a:rPr kumimoji="1" lang="en-US" altLang="ja-JP"/>
              <a:t>RG</a:t>
            </a:r>
            <a:r>
              <a:rPr kumimoji="1" lang="ja-JP" altLang="en-US"/>
              <a:t>削除まで保持。
根拠</a:t>
            </a:r>
            <a:r>
              <a:rPr kumimoji="1" lang="en-US" altLang="ja-JP"/>
              <a:t>: labs/01-setup.md:15–55; infra/main.bicep:113–318,526–709; scripts/bootstrap-custom-template.sh:30–57,66–160; scripts/bootstrap_custom_template.py:163–251,263–339,365–401; scripts/bootstrap_data.py:1068–1107; scripts/run_evaluation.py:724–771; scripts/validate_environment.py:471–591</a:t>
            </a:r>
            <a:r>
              <a:rPr kumimoji="1" lang="ja-JP" altLang="en-US"/>
              <a:t>。
固定</a:t>
            </a:r>
            <a:r>
              <a:rPr kumimoji="1" lang="en-US" altLang="ja-JP"/>
              <a:t>sourceRevision 05bd80776c0091ae03d8cfae9312a14b0db00b5f </a:t>
            </a:r>
            <a:r>
              <a:rPr kumimoji="1" lang="ja-JP" altLang="en-US"/>
              <a:t>と</a:t>
            </a:r>
            <a:r>
              <a:rPr kumimoji="1" lang="en-US" altLang="ja-JP"/>
              <a:t>HEAD 79ffae8</a:t>
            </a:r>
            <a:r>
              <a:rPr kumimoji="1" lang="ja-JP" altLang="en-US"/>
              <a:t>の初期化</a:t>
            </a:r>
            <a:r>
              <a:rPr kumimoji="1" lang="en-US" altLang="ja-JP"/>
              <a:t>5</a:t>
            </a:r>
            <a:r>
              <a:rPr kumimoji="1" lang="ja-JP" altLang="en-US"/>
              <a:t>ファイルを比較。</a:t>
            </a:r>
            <a:r>
              <a:rPr kumimoji="1" lang="en-US" altLang="ja-JP"/>
              <a:t>run_evaluation.py</a:t>
            </a:r>
            <a:r>
              <a:rPr kumimoji="1" lang="ja-JP" altLang="en-US"/>
              <a:t>の</a:t>
            </a:r>
            <a:r>
              <a:rPr kumimoji="1" lang="en-US" altLang="ja-JP"/>
              <a:t>docstring</a:t>
            </a:r>
            <a:r>
              <a:rPr kumimoji="1" lang="ja-JP" altLang="en-US"/>
              <a:t>内参照パス以外に差分はなく、図示した処理は同じ。実デプロイの証跡ではない。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9AF672-9BB4-48C4-B98F-AAEB6E51ED65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9685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9A2D1C-466F-421F-2553-A5E8FF5C24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3125" y="1808251"/>
            <a:ext cx="12858750" cy="384668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25A1F99-D44E-74FF-FF5E-CB492D6C6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43125" y="5803283"/>
            <a:ext cx="12858750" cy="266761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25C60D-C4EC-2EC8-98A5-3777EE751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2C5F-22E3-4314-A2ED-C4CF64E8109D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83D4DA-EEC2-D185-CF77-A672CFE4C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A018BA-FCB3-E418-8B75-AFCBBFB14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E6495-7250-4CE1-99B9-DF5B2E8327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8309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591C7F-0FC1-0EB9-31D9-3EC2DA9E9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ADDD9B-65AE-6F34-D289-A966DBD75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4F5A27-AA3C-0F28-8567-8BD2BC4B5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2C5F-22E3-4314-A2ED-C4CF64E8109D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10B0170-5BB0-FB9E-9422-20040AA81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03A321-07A5-CD8A-4E6A-3EAD29D2A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E6495-7250-4CE1-99B9-DF5B2E8327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8047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16A5EE-2D97-5256-F3DD-3F85219C1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790" y="2754580"/>
            <a:ext cx="14787563" cy="459607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E92929-3057-83F8-6D15-8B554D5F6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9790" y="7394137"/>
            <a:ext cx="14787563" cy="241696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4BA603-A18B-31CE-B4CD-7C446DE35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2C5F-22E3-4314-A2ED-C4CF64E8109D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41277F-8E3A-F721-1A21-F4718899F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CAD317-4B21-8270-2484-E8DC3842A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E6495-7250-4CE1-99B9-DF5B2E8327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355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DC601C-5B06-9430-38FE-DBD5495CE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746DF54-8713-35B9-4113-FC45FE797B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8720" y="2941285"/>
            <a:ext cx="7286625" cy="701048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E508716-182F-358D-8FF1-BE10995F5A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79657" y="2941285"/>
            <a:ext cx="7286625" cy="701048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B42C5DC-D2B4-E97F-C417-CC941BE2F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2C5F-22E3-4314-A2ED-C4CF64E8109D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74A8150-5E46-F175-7900-FC2BC2F62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A5D19BA-BD9E-DAB3-53F4-051964728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E6495-7250-4CE1-99B9-DF5B2E8327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0697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457F7E-06D0-6CE7-F607-30C0938C3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953" y="588260"/>
            <a:ext cx="14787563" cy="2135629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34CFD5A-DE36-F0E3-C4E7-EAD7A2FAB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0953" y="2708540"/>
            <a:ext cx="7253138" cy="132741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3F48B6E-2905-69F5-D174-0115559BF3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80953" y="4035954"/>
            <a:ext cx="7253138" cy="5936281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6CA42C6-233D-999A-105B-1375871BE0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679656" y="2708540"/>
            <a:ext cx="7288858" cy="132741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E8F911C-48E7-0B52-8189-C9EC5C79EE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679656" y="4035954"/>
            <a:ext cx="7288858" cy="5936281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84A20B8-ABF2-02C6-AA9F-D021877E2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2C5F-22E3-4314-A2ED-C4CF64E8109D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27D0A26-778B-3A63-5491-FF06D8BE4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062E01B-060B-1AC0-9DE6-F3EE5E94C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E6495-7250-4CE1-99B9-DF5B2E8327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6768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636E70-76D5-377E-6CA8-AC4A01CF5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8FBA897-72EB-6D69-0232-B0694136C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2C5F-22E3-4314-A2ED-C4CF64E8109D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50F5F5D-6316-DC37-BFD2-7EBF79A90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DA70AB1-D182-7053-07FF-D83C159C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E6495-7250-4CE1-99B9-DF5B2E8327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3242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1BE63EAE-42C5-96CE-7C04-7F97B416D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2C5F-22E3-4314-A2ED-C4CF64E8109D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FCCE1BA-F4A2-CAFD-CCCF-06BAA8579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9800C4F-27ED-28E5-6BC4-2A3276C23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E6495-7250-4CE1-99B9-DF5B2E8327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7093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4B527B-AA99-172D-5260-9341BA1FC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953" y="736600"/>
            <a:ext cx="5529708" cy="25781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0F16210-D584-E5A8-3482-CA41C974F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8858" y="1590854"/>
            <a:ext cx="8679656" cy="78519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EC8E325-547C-DBBE-1E5C-CC4499C9A3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80953" y="3314700"/>
            <a:ext cx="5529708" cy="614089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875612E-322F-C32E-6129-BAEB5D3F9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2C5F-22E3-4314-A2ED-C4CF64E8109D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4FB377-0441-B69A-806E-1DCF7652C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0787127-4A08-7A1E-BCA2-A52D8DEC8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E6495-7250-4CE1-99B9-DF5B2E8327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3793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DA1D96-8215-F79D-D68E-1B979525B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0953" y="736600"/>
            <a:ext cx="5529708" cy="25781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BB65E05-52D0-6F99-0199-305FC42D7CF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288858" y="1590854"/>
            <a:ext cx="8679656" cy="78519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79DC914-BB58-FEFE-1D6D-C0235F6DEF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80953" y="3314700"/>
            <a:ext cx="5529708" cy="614089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1C1169E-75D4-DF7A-01F4-ACFC755F2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2C5F-22E3-4314-A2ED-C4CF64E8109D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714262E-8C33-E273-260F-543DC4973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53816A0-2ADF-DE67-A83C-2A16C68FD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E6495-7250-4CE1-99B9-DF5B2E8327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9257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9FD983-8F74-0B88-401B-302AAE98F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B034062-8035-F7F8-35D6-6A6B1AA9D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32AA8A3-FFF0-11FA-665F-651F934C1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2C5F-22E3-4314-A2ED-C4CF64E8109D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01B41AA-167A-5485-C335-5C5CA0619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8494B8-0495-0E79-4AB5-0E371C314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E6495-7250-4CE1-99B9-DF5B2E8327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4351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1B57651-D5B9-319C-A40E-93FE254018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269391" y="588257"/>
            <a:ext cx="3696891" cy="9363517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5A1EC0F-415B-526B-999F-E8AF9DA3A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78720" y="588257"/>
            <a:ext cx="10876359" cy="9363517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40AAB3-0FB0-8219-5FB7-F40784E41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92C5F-22E3-4314-A2ED-C4CF64E8109D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17AD6DE-1FA2-8769-5C21-D340A9371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484B8E-81A0-68BE-70D2-B01F5BB00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E6495-7250-4CE1-99B9-DF5B2E8327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9429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F25F9E8-9952-723C-0D29-4D9427AB3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8720" y="588260"/>
            <a:ext cx="14787563" cy="21356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85139C9-21C1-E7A9-8D88-6DBD122BE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78720" y="2941285"/>
            <a:ext cx="14787563" cy="7010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A6B89E-CCCB-E740-6A33-E9B9BF1CA3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78720" y="10240789"/>
            <a:ext cx="3857625" cy="5882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392C5F-22E3-4314-A2ED-C4CF64E8109D}" type="datetimeFigureOut">
              <a:rPr kumimoji="1" lang="ja-JP" altLang="en-US" smtClean="0"/>
              <a:t>2026/9/19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31C5A9A-A972-B376-5167-41F9E72F40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79281" y="10240789"/>
            <a:ext cx="5786438" cy="5882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2E7717-A160-DF76-5B8A-98BEB84D75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108657" y="10240789"/>
            <a:ext cx="3857625" cy="5882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BE6495-7250-4CE1-99B9-DF5B2E8327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7907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1.svg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undary:clients" descr="boundary;kind=external;parent=">
            <a:extLst>
              <a:ext uri="{FF2B5EF4-FFF2-40B4-BE49-F238E27FC236}">
                <a16:creationId xmlns:a16="http://schemas.microsoft.com/office/drawing/2014/main" id="{868E9608-9B61-BA65-C469-3A14E060C07A}"/>
              </a:ext>
            </a:extLst>
          </p:cNvPr>
          <p:cNvSpPr/>
          <p:nvPr/>
        </p:nvSpPr>
        <p:spPr>
          <a:xfrm>
            <a:off x="457200" y="1371600"/>
            <a:ext cx="2743200" cy="8077200"/>
          </a:xfrm>
          <a:prstGeom prst="rect">
            <a:avLst/>
          </a:prstGeom>
          <a:solidFill>
            <a:srgbClr val="F8FAFC"/>
          </a:solidFill>
          <a:ln w="10477">
            <a:solidFill>
              <a:srgbClr val="94A3B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boundary-label:clients">
            <a:extLst>
              <a:ext uri="{FF2B5EF4-FFF2-40B4-BE49-F238E27FC236}">
                <a16:creationId xmlns:a16="http://schemas.microsoft.com/office/drawing/2014/main" id="{4F93F7D7-D4FB-5DA9-E505-0BF3D0170199}"/>
              </a:ext>
            </a:extLst>
          </p:cNvPr>
          <p:cNvSpPr txBox="1"/>
          <p:nvPr/>
        </p:nvSpPr>
        <p:spPr>
          <a:xfrm>
            <a:off x="609600" y="1447800"/>
            <a:ext cx="2438400" cy="2667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kumimoji="1" lang="ja-JP" altLang="en-US" sz="1200" b="1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参加者の操作</a:t>
            </a:r>
          </a:p>
        </p:txBody>
      </p:sp>
      <p:sp>
        <p:nvSpPr>
          <p:cNvPr id="4" name="boundary:azure" descr="boundary;kind=region;parent=">
            <a:extLst>
              <a:ext uri="{FF2B5EF4-FFF2-40B4-BE49-F238E27FC236}">
                <a16:creationId xmlns:a16="http://schemas.microsoft.com/office/drawing/2014/main" id="{BF6A41AD-59F1-4BDA-C169-8733794C0C25}"/>
              </a:ext>
            </a:extLst>
          </p:cNvPr>
          <p:cNvSpPr/>
          <p:nvPr/>
        </p:nvSpPr>
        <p:spPr>
          <a:xfrm>
            <a:off x="3581400" y="1371600"/>
            <a:ext cx="13106400" cy="8077200"/>
          </a:xfrm>
          <a:prstGeom prst="rect">
            <a:avLst/>
          </a:prstGeom>
          <a:solidFill>
            <a:srgbClr val="FFFFFF"/>
          </a:solidFill>
          <a:ln w="10477">
            <a:solidFill>
              <a:srgbClr val="94A3B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boundary-label:azure">
            <a:extLst>
              <a:ext uri="{FF2B5EF4-FFF2-40B4-BE49-F238E27FC236}">
                <a16:creationId xmlns:a16="http://schemas.microsoft.com/office/drawing/2014/main" id="{F3164876-1912-DF9F-6CFF-9C87742A846B}"/>
              </a:ext>
            </a:extLst>
          </p:cNvPr>
          <p:cNvSpPr txBox="1"/>
          <p:nvPr/>
        </p:nvSpPr>
        <p:spPr>
          <a:xfrm>
            <a:off x="3733800" y="1447800"/>
            <a:ext cx="12801600" cy="2667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kumimoji="1" lang="ja-JP" altLang="en-US" sz="1200" b="1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専用 </a:t>
            </a:r>
            <a:r>
              <a:rPr kumimoji="1" lang="en-US" altLang="ja-JP" sz="1200" b="1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RG / Japan East</a:t>
            </a:r>
            <a:r>
              <a:rPr kumimoji="1" lang="ja-JP" altLang="en-US" sz="1200" b="1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（リソース配置先） </a:t>
            </a:r>
            <a:r>
              <a:rPr kumimoji="1" lang="en-US" altLang="ja-JP" sz="1200" b="1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/ </a:t>
            </a:r>
            <a:r>
              <a:rPr kumimoji="1" lang="ja-JP" altLang="en-US" sz="1200" b="1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枠は </a:t>
            </a:r>
            <a:r>
              <a:rPr kumimoji="1" lang="en-US" altLang="ja-JP" sz="1200" b="1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VNet </a:t>
            </a:r>
            <a:r>
              <a:rPr kumimoji="1" lang="ja-JP" altLang="en-US" sz="1200" b="1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ではありません</a:t>
            </a:r>
          </a:p>
        </p:txBody>
      </p:sp>
      <p:sp>
        <p:nvSpPr>
          <p:cNvPr id="6" name="boundary:account" descr="boundary;kind=logical;parent=azure">
            <a:extLst>
              <a:ext uri="{FF2B5EF4-FFF2-40B4-BE49-F238E27FC236}">
                <a16:creationId xmlns:a16="http://schemas.microsoft.com/office/drawing/2014/main" id="{DA1094F5-2378-F63A-BC2E-5E424E361CF0}"/>
              </a:ext>
            </a:extLst>
          </p:cNvPr>
          <p:cNvSpPr/>
          <p:nvPr/>
        </p:nvSpPr>
        <p:spPr>
          <a:xfrm>
            <a:off x="3962400" y="1981200"/>
            <a:ext cx="7239000" cy="5410200"/>
          </a:xfrm>
          <a:prstGeom prst="rect">
            <a:avLst/>
          </a:prstGeom>
          <a:solidFill>
            <a:srgbClr val="FAF8FF"/>
          </a:solidFill>
          <a:ln w="10477">
            <a:solidFill>
              <a:srgbClr val="B9A5D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boundary-label:account">
            <a:extLst>
              <a:ext uri="{FF2B5EF4-FFF2-40B4-BE49-F238E27FC236}">
                <a16:creationId xmlns:a16="http://schemas.microsoft.com/office/drawing/2014/main" id="{13061375-B5E2-F3BA-DE3A-EF659AD20067}"/>
              </a:ext>
            </a:extLst>
          </p:cNvPr>
          <p:cNvSpPr txBox="1"/>
          <p:nvPr/>
        </p:nvSpPr>
        <p:spPr>
          <a:xfrm>
            <a:off x="4114800" y="2057400"/>
            <a:ext cx="6934200" cy="2667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kumimoji="1" lang="en-US" altLang="ja-JP" sz="1200" b="1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Microsoft Foundry account</a:t>
            </a:r>
            <a:endParaRPr kumimoji="1" lang="ja-JP" altLang="en-US" sz="1200" b="1">
              <a:solidFill>
                <a:srgbClr val="172B4D"/>
              </a:solidFill>
              <a:latin typeface="Segoe UI" panose="020B0502040204020203" pitchFamily="34" charset="0"/>
              <a:ea typeface="Yu Gothic" panose="020B0400000000000000" pitchFamily="50" charset="-128"/>
            </a:endParaRPr>
          </a:p>
        </p:txBody>
      </p:sp>
      <p:sp>
        <p:nvSpPr>
          <p:cNvPr id="8" name="boundary:search-service" descr="boundary;kind=logical;parent=azure">
            <a:extLst>
              <a:ext uri="{FF2B5EF4-FFF2-40B4-BE49-F238E27FC236}">
                <a16:creationId xmlns:a16="http://schemas.microsoft.com/office/drawing/2014/main" id="{FAD618E9-1FD1-EE8F-3055-B4F970655E74}"/>
              </a:ext>
            </a:extLst>
          </p:cNvPr>
          <p:cNvSpPr/>
          <p:nvPr/>
        </p:nvSpPr>
        <p:spPr>
          <a:xfrm>
            <a:off x="11430000" y="2286000"/>
            <a:ext cx="4876800" cy="4572000"/>
          </a:xfrm>
          <a:prstGeom prst="rect">
            <a:avLst/>
          </a:prstGeom>
          <a:solidFill>
            <a:srgbClr val="FAF8FF"/>
          </a:solidFill>
          <a:ln w="10477">
            <a:solidFill>
              <a:srgbClr val="B9A5D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boundary-label:search-service">
            <a:extLst>
              <a:ext uri="{FF2B5EF4-FFF2-40B4-BE49-F238E27FC236}">
                <a16:creationId xmlns:a16="http://schemas.microsoft.com/office/drawing/2014/main" id="{482BF66B-479B-86D4-9B2C-00CE59E2BE5F}"/>
              </a:ext>
            </a:extLst>
          </p:cNvPr>
          <p:cNvSpPr txBox="1"/>
          <p:nvPr/>
        </p:nvSpPr>
        <p:spPr>
          <a:xfrm>
            <a:off x="11582400" y="2362200"/>
            <a:ext cx="4572000" cy="2667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kumimoji="1" lang="en-US" altLang="ja-JP" sz="1200" b="1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Azure AI Search </a:t>
            </a:r>
            <a:r>
              <a:rPr kumimoji="1" lang="ja-JP" altLang="en-US" sz="1200" b="1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サービス（基盤はテンプレート）</a:t>
            </a:r>
          </a:p>
        </p:txBody>
      </p:sp>
      <p:sp>
        <p:nvSpPr>
          <p:cNvPr id="10" name="boundary:api-host" descr="boundary;kind=logical;parent=azure">
            <a:extLst>
              <a:ext uri="{FF2B5EF4-FFF2-40B4-BE49-F238E27FC236}">
                <a16:creationId xmlns:a16="http://schemas.microsoft.com/office/drawing/2014/main" id="{5BD6DE24-E0AE-7FA4-1035-882C54293CD7}"/>
              </a:ext>
            </a:extLst>
          </p:cNvPr>
          <p:cNvSpPr/>
          <p:nvPr/>
        </p:nvSpPr>
        <p:spPr>
          <a:xfrm>
            <a:off x="11430000" y="6934200"/>
            <a:ext cx="4876800" cy="2057400"/>
          </a:xfrm>
          <a:prstGeom prst="rect">
            <a:avLst/>
          </a:prstGeom>
          <a:solidFill>
            <a:srgbClr val="FAF8FF"/>
          </a:solidFill>
          <a:ln w="10477">
            <a:solidFill>
              <a:srgbClr val="B9A5D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boundary-label:api-host">
            <a:extLst>
              <a:ext uri="{FF2B5EF4-FFF2-40B4-BE49-F238E27FC236}">
                <a16:creationId xmlns:a16="http://schemas.microsoft.com/office/drawing/2014/main" id="{2FC349E9-7405-07FE-8AAA-574C298A558F}"/>
              </a:ext>
            </a:extLst>
          </p:cNvPr>
          <p:cNvSpPr txBox="1"/>
          <p:nvPr/>
        </p:nvSpPr>
        <p:spPr>
          <a:xfrm>
            <a:off x="11582400" y="7010400"/>
            <a:ext cx="4572000" cy="2667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kumimoji="1" lang="en-US" altLang="ja-JP" sz="1200" b="1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Container Apps environment</a:t>
            </a:r>
            <a:r>
              <a:rPr kumimoji="1" lang="ja-JP" altLang="en-US" sz="1200" b="1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（テンプレート）</a:t>
            </a:r>
          </a:p>
        </p:txBody>
      </p:sp>
      <p:sp>
        <p:nvSpPr>
          <p:cNvPr id="12" name="boundary:project" descr="boundary;kind=logical;parent=account">
            <a:extLst>
              <a:ext uri="{FF2B5EF4-FFF2-40B4-BE49-F238E27FC236}">
                <a16:creationId xmlns:a16="http://schemas.microsoft.com/office/drawing/2014/main" id="{AC0FAA08-01FA-DC04-C773-3BA2C7A02E8E}"/>
              </a:ext>
            </a:extLst>
          </p:cNvPr>
          <p:cNvSpPr/>
          <p:nvPr/>
        </p:nvSpPr>
        <p:spPr>
          <a:xfrm>
            <a:off x="4191000" y="2514600"/>
            <a:ext cx="3886200" cy="4572000"/>
          </a:xfrm>
          <a:prstGeom prst="rect">
            <a:avLst/>
          </a:prstGeom>
          <a:solidFill>
            <a:srgbClr val="FAF8FF"/>
          </a:solidFill>
          <a:ln w="10477">
            <a:solidFill>
              <a:srgbClr val="B9A5D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boundary-label:project">
            <a:extLst>
              <a:ext uri="{FF2B5EF4-FFF2-40B4-BE49-F238E27FC236}">
                <a16:creationId xmlns:a16="http://schemas.microsoft.com/office/drawing/2014/main" id="{7BCF9FA7-56AB-BC45-16B3-FB8AD98533E2}"/>
              </a:ext>
            </a:extLst>
          </p:cNvPr>
          <p:cNvSpPr txBox="1"/>
          <p:nvPr/>
        </p:nvSpPr>
        <p:spPr>
          <a:xfrm>
            <a:off x="4343400" y="2590800"/>
            <a:ext cx="3581400" cy="2667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kumimoji="1" lang="en-US" altLang="ja-JP" sz="1200" b="1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Project: contoso-travel</a:t>
            </a:r>
            <a:endParaRPr kumimoji="1" lang="ja-JP" altLang="en-US" sz="1200" b="1">
              <a:solidFill>
                <a:srgbClr val="172B4D"/>
              </a:solidFill>
              <a:latin typeface="Segoe UI" panose="020B0502040204020203" pitchFamily="34" charset="0"/>
              <a:ea typeface="Yu Gothic" panose="020B0400000000000000" pitchFamily="50" charset="-128"/>
            </a:endParaRPr>
          </a:p>
        </p:txBody>
      </p:sp>
      <p:grpSp>
        <p:nvGrpSpPr>
          <p:cNvPr id="18" name="service:participant" descr="service;parent=clients">
            <a:extLst>
              <a:ext uri="{FF2B5EF4-FFF2-40B4-BE49-F238E27FC236}">
                <a16:creationId xmlns:a16="http://schemas.microsoft.com/office/drawing/2014/main" id="{A6C74474-6EA5-A863-6BA4-D730863077F8}"/>
              </a:ext>
            </a:extLst>
          </p:cNvPr>
          <p:cNvGrpSpPr/>
          <p:nvPr/>
        </p:nvGrpSpPr>
        <p:grpSpPr>
          <a:xfrm>
            <a:off x="1143000" y="2057400"/>
            <a:ext cx="1371600" cy="1066800"/>
            <a:chOff x="1143000" y="2057400"/>
            <a:chExt cx="1371600" cy="1066800"/>
          </a:xfrm>
        </p:grpSpPr>
        <p:sp>
          <p:nvSpPr>
            <p:cNvPr id="14" name="service-anchor:participant">
              <a:extLst>
                <a:ext uri="{FF2B5EF4-FFF2-40B4-BE49-F238E27FC236}">
                  <a16:creationId xmlns:a16="http://schemas.microsoft.com/office/drawing/2014/main" id="{214F4BE3-3AAB-2AC0-EF53-5B893EB2431E}"/>
                </a:ext>
              </a:extLst>
            </p:cNvPr>
            <p:cNvSpPr/>
            <p:nvPr/>
          </p:nvSpPr>
          <p:spPr>
            <a:xfrm>
              <a:off x="1143000" y="2057400"/>
              <a:ext cx="1371600" cy="10668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generic-symbol:participant:head">
              <a:extLst>
                <a:ext uri="{FF2B5EF4-FFF2-40B4-BE49-F238E27FC236}">
                  <a16:creationId xmlns:a16="http://schemas.microsoft.com/office/drawing/2014/main" id="{487141A2-6F1A-6B1F-65B7-8B1D4094D4BE}"/>
                </a:ext>
              </a:extLst>
            </p:cNvPr>
            <p:cNvSpPr/>
            <p:nvPr/>
          </p:nvSpPr>
          <p:spPr>
            <a:xfrm>
              <a:off x="1743075" y="2057400"/>
              <a:ext cx="171450" cy="171450"/>
            </a:xfrm>
            <a:prstGeom prst="ellipse">
              <a:avLst/>
            </a:prstGeom>
            <a:solidFill>
              <a:srgbClr val="E7EEF5"/>
            </a:solidFill>
            <a:ln w="10477">
              <a:solidFill>
                <a:srgbClr val="52657A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generic-symbol:participant:body">
              <a:extLst>
                <a:ext uri="{FF2B5EF4-FFF2-40B4-BE49-F238E27FC236}">
                  <a16:creationId xmlns:a16="http://schemas.microsoft.com/office/drawing/2014/main" id="{9C0CAEC1-BDDF-F6EF-AE3F-D113C38D8DD4}"/>
                </a:ext>
              </a:extLst>
            </p:cNvPr>
            <p:cNvSpPr/>
            <p:nvPr/>
          </p:nvSpPr>
          <p:spPr>
            <a:xfrm>
              <a:off x="1666875" y="2276475"/>
              <a:ext cx="323850" cy="238125"/>
            </a:xfrm>
            <a:prstGeom prst="roundRect">
              <a:avLst/>
            </a:prstGeom>
            <a:solidFill>
              <a:srgbClr val="E7EEF5"/>
            </a:solidFill>
            <a:ln w="10477">
              <a:solidFill>
                <a:srgbClr val="52657A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service-label:participant">
              <a:extLst>
                <a:ext uri="{FF2B5EF4-FFF2-40B4-BE49-F238E27FC236}">
                  <a16:creationId xmlns:a16="http://schemas.microsoft.com/office/drawing/2014/main" id="{43A9D5A8-ADAE-ADEE-1F33-BFFA3DB85824}"/>
                </a:ext>
              </a:extLst>
            </p:cNvPr>
            <p:cNvSpPr txBox="1"/>
            <p:nvPr/>
          </p:nvSpPr>
          <p:spPr>
            <a:xfrm>
              <a:off x="1143000" y="2571750"/>
              <a:ext cx="13716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ja-JP" altLang="en-US" sz="1350">
                  <a:solidFill>
                    <a:srgbClr val="172B4D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参加者</a:t>
              </a:r>
            </a:p>
          </p:txBody>
        </p:sp>
      </p:grpSp>
      <p:grpSp>
        <p:nvGrpSpPr>
          <p:cNvPr id="24" name="service:portal" descr="service;parent=clients">
            <a:extLst>
              <a:ext uri="{FF2B5EF4-FFF2-40B4-BE49-F238E27FC236}">
                <a16:creationId xmlns:a16="http://schemas.microsoft.com/office/drawing/2014/main" id="{D8C0A19C-6492-3237-9B71-92E76A5C6867}"/>
              </a:ext>
            </a:extLst>
          </p:cNvPr>
          <p:cNvGrpSpPr/>
          <p:nvPr/>
        </p:nvGrpSpPr>
        <p:grpSpPr>
          <a:xfrm>
            <a:off x="609600" y="3238500"/>
            <a:ext cx="2438400" cy="1295400"/>
            <a:chOff x="609600" y="3238500"/>
            <a:chExt cx="2438400" cy="1295400"/>
          </a:xfrm>
        </p:grpSpPr>
        <p:sp>
          <p:nvSpPr>
            <p:cNvPr id="19" name="service-anchor:portal">
              <a:extLst>
                <a:ext uri="{FF2B5EF4-FFF2-40B4-BE49-F238E27FC236}">
                  <a16:creationId xmlns:a16="http://schemas.microsoft.com/office/drawing/2014/main" id="{7A22BE1E-B1FE-31B0-EBFD-2F77A62E76E1}"/>
                </a:ext>
              </a:extLst>
            </p:cNvPr>
            <p:cNvSpPr/>
            <p:nvPr/>
          </p:nvSpPr>
          <p:spPr>
            <a:xfrm>
              <a:off x="609600" y="3238500"/>
              <a:ext cx="2438400" cy="12954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1" name="official-icon:portal" descr="Foundry Portal">
              <a:extLst>
                <a:ext uri="{FF2B5EF4-FFF2-40B4-BE49-F238E27FC236}">
                  <a16:creationId xmlns:a16="http://schemas.microsoft.com/office/drawing/2014/main" id="{35E991F5-7DE4-7EFD-F4CE-614F53CC08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600200" y="3238500"/>
              <a:ext cx="457200" cy="457200"/>
            </a:xfrm>
            <a:prstGeom prst="rect">
              <a:avLst/>
            </a:prstGeom>
          </p:spPr>
        </p:pic>
        <p:sp>
          <p:nvSpPr>
            <p:cNvPr id="22" name="service-label:portal">
              <a:extLst>
                <a:ext uri="{FF2B5EF4-FFF2-40B4-BE49-F238E27FC236}">
                  <a16:creationId xmlns:a16="http://schemas.microsoft.com/office/drawing/2014/main" id="{2A748855-A464-9474-772C-1C48D35D9DF3}"/>
                </a:ext>
              </a:extLst>
            </p:cNvPr>
            <p:cNvSpPr txBox="1"/>
            <p:nvPr/>
          </p:nvSpPr>
          <p:spPr>
            <a:xfrm>
              <a:off x="609600" y="3752850"/>
              <a:ext cx="24384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en-US" altLang="ja-JP" sz="1350">
                  <a:solidFill>
                    <a:srgbClr val="172B4D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Foundry Portal</a:t>
              </a:r>
              <a:endParaRPr kumimoji="1" lang="ja-JP" altLang="en-US" sz="13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endParaRPr>
            </a:p>
          </p:txBody>
        </p:sp>
        <p:sp>
          <p:nvSpPr>
            <p:cNvPr id="23" name="service-detail:portal">
              <a:extLst>
                <a:ext uri="{FF2B5EF4-FFF2-40B4-BE49-F238E27FC236}">
                  <a16:creationId xmlns:a16="http://schemas.microsoft.com/office/drawing/2014/main" id="{3387D01A-B825-43F0-CC43-631FDA69337F}"/>
                </a:ext>
              </a:extLst>
            </p:cNvPr>
            <p:cNvSpPr txBox="1"/>
            <p:nvPr/>
          </p:nvSpPr>
          <p:spPr>
            <a:xfrm>
              <a:off x="609600" y="4010025"/>
              <a:ext cx="2438400" cy="5238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Prompt Agent </a:t>
              </a:r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を設定・対話</a:t>
              </a:r>
            </a:p>
          </p:txBody>
        </p:sp>
      </p:grpSp>
      <p:grpSp>
        <p:nvGrpSpPr>
          <p:cNvPr id="30" name="service:agent" descr="service;parent=project">
            <a:extLst>
              <a:ext uri="{FF2B5EF4-FFF2-40B4-BE49-F238E27FC236}">
                <a16:creationId xmlns:a16="http://schemas.microsoft.com/office/drawing/2014/main" id="{CAAA6F7D-6716-8F05-51CB-EA75B66EB5E5}"/>
              </a:ext>
            </a:extLst>
          </p:cNvPr>
          <p:cNvGrpSpPr/>
          <p:nvPr/>
        </p:nvGrpSpPr>
        <p:grpSpPr>
          <a:xfrm>
            <a:off x="4419600" y="3200400"/>
            <a:ext cx="3048000" cy="1371600"/>
            <a:chOff x="4419600" y="3200400"/>
            <a:chExt cx="3048000" cy="1371600"/>
          </a:xfrm>
        </p:grpSpPr>
        <p:sp>
          <p:nvSpPr>
            <p:cNvPr id="25" name="service-anchor:agent">
              <a:extLst>
                <a:ext uri="{FF2B5EF4-FFF2-40B4-BE49-F238E27FC236}">
                  <a16:creationId xmlns:a16="http://schemas.microsoft.com/office/drawing/2014/main" id="{DA1117C7-8FBE-44F8-2AD3-815C3CCD5467}"/>
                </a:ext>
              </a:extLst>
            </p:cNvPr>
            <p:cNvSpPr/>
            <p:nvPr/>
          </p:nvSpPr>
          <p:spPr>
            <a:xfrm>
              <a:off x="4419600" y="3200400"/>
              <a:ext cx="3048000" cy="13716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7" name="official-icon:agent" descr="Foundry Agent Service">
              <a:extLst>
                <a:ext uri="{FF2B5EF4-FFF2-40B4-BE49-F238E27FC236}">
                  <a16:creationId xmlns:a16="http://schemas.microsoft.com/office/drawing/2014/main" id="{967CA4FA-B239-D0FA-5E84-FB3EF126227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715000" y="3200400"/>
              <a:ext cx="457200" cy="457200"/>
            </a:xfrm>
            <a:prstGeom prst="rect">
              <a:avLst/>
            </a:prstGeom>
          </p:spPr>
        </p:pic>
        <p:sp>
          <p:nvSpPr>
            <p:cNvPr id="28" name="service-label:agent">
              <a:extLst>
                <a:ext uri="{FF2B5EF4-FFF2-40B4-BE49-F238E27FC236}">
                  <a16:creationId xmlns:a16="http://schemas.microsoft.com/office/drawing/2014/main" id="{280A1EF4-86A6-3FA3-EC82-B083D0A83373}"/>
                </a:ext>
              </a:extLst>
            </p:cNvPr>
            <p:cNvSpPr txBox="1"/>
            <p:nvPr/>
          </p:nvSpPr>
          <p:spPr>
            <a:xfrm>
              <a:off x="4419600" y="3714750"/>
              <a:ext cx="30480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en-US" altLang="ja-JP" sz="1350">
                  <a:solidFill>
                    <a:srgbClr val="172B4D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Foundry Agent Service</a:t>
              </a:r>
              <a:endParaRPr kumimoji="1" lang="ja-JP" altLang="en-US" sz="13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endParaRPr>
            </a:p>
          </p:txBody>
        </p:sp>
        <p:sp>
          <p:nvSpPr>
            <p:cNvPr id="29" name="service-detail:agent">
              <a:extLst>
                <a:ext uri="{FF2B5EF4-FFF2-40B4-BE49-F238E27FC236}">
                  <a16:creationId xmlns:a16="http://schemas.microsoft.com/office/drawing/2014/main" id="{0CB7ED0E-B002-D180-ACB5-0A044B0657C0}"/>
                </a:ext>
              </a:extLst>
            </p:cNvPr>
            <p:cNvSpPr txBox="1"/>
            <p:nvPr/>
          </p:nvSpPr>
          <p:spPr>
            <a:xfrm>
              <a:off x="4419600" y="3971925"/>
              <a:ext cx="3048000" cy="6000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Prompt Agent</a:t>
              </a:r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（</a:t>
              </a:r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Lab 2 </a:t>
              </a:r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で作成）
</a:t>
              </a:r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contoso-travel-assistant</a:t>
              </a:r>
              <a:endParaRPr kumimoji="1" lang="ja-JP" altLang="en-US" sz="1050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endParaRPr>
            </a:p>
          </p:txBody>
        </p:sp>
      </p:grpSp>
      <p:grpSp>
        <p:nvGrpSpPr>
          <p:cNvPr id="37" name="service:toolbox" descr="service;parent=project">
            <a:extLst>
              <a:ext uri="{FF2B5EF4-FFF2-40B4-BE49-F238E27FC236}">
                <a16:creationId xmlns:a16="http://schemas.microsoft.com/office/drawing/2014/main" id="{928E876C-0A2F-C7AB-CF19-BAAD72351501}"/>
              </a:ext>
            </a:extLst>
          </p:cNvPr>
          <p:cNvGrpSpPr/>
          <p:nvPr/>
        </p:nvGrpSpPr>
        <p:grpSpPr>
          <a:xfrm>
            <a:off x="4495800" y="5638800"/>
            <a:ext cx="2895600" cy="1295400"/>
            <a:chOff x="4495800" y="5638800"/>
            <a:chExt cx="2895600" cy="1295400"/>
          </a:xfrm>
        </p:grpSpPr>
        <p:sp>
          <p:nvSpPr>
            <p:cNvPr id="31" name="service-anchor:toolbox">
              <a:extLst>
                <a:ext uri="{FF2B5EF4-FFF2-40B4-BE49-F238E27FC236}">
                  <a16:creationId xmlns:a16="http://schemas.microsoft.com/office/drawing/2014/main" id="{78A144C8-D6E9-4136-EC7B-57F31733899E}"/>
                </a:ext>
              </a:extLst>
            </p:cNvPr>
            <p:cNvSpPr/>
            <p:nvPr/>
          </p:nvSpPr>
          <p:spPr>
            <a:xfrm>
              <a:off x="4495800" y="5638800"/>
              <a:ext cx="2895600" cy="12954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generic-symbol:toolbox:left">
              <a:extLst>
                <a:ext uri="{FF2B5EF4-FFF2-40B4-BE49-F238E27FC236}">
                  <a16:creationId xmlns:a16="http://schemas.microsoft.com/office/drawing/2014/main" id="{5A884D9D-3925-5542-0627-4D7FA0F17ADF}"/>
                </a:ext>
              </a:extLst>
            </p:cNvPr>
            <p:cNvSpPr/>
            <p:nvPr/>
          </p:nvSpPr>
          <p:spPr>
            <a:xfrm>
              <a:off x="5715000" y="5753100"/>
              <a:ext cx="114300" cy="228600"/>
            </a:xfrm>
            <a:prstGeom prst="rect">
              <a:avLst/>
            </a:prstGeom>
            <a:solidFill>
              <a:srgbClr val="E7EEF5"/>
            </a:solidFill>
            <a:ln w="10477">
              <a:solidFill>
                <a:srgbClr val="52657A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generic-symbol:toolbox:link">
              <a:extLst>
                <a:ext uri="{FF2B5EF4-FFF2-40B4-BE49-F238E27FC236}">
                  <a16:creationId xmlns:a16="http://schemas.microsoft.com/office/drawing/2014/main" id="{DF1195A7-3FDD-831B-2DC1-E58C0435057F}"/>
                </a:ext>
              </a:extLst>
            </p:cNvPr>
            <p:cNvSpPr/>
            <p:nvPr/>
          </p:nvSpPr>
          <p:spPr>
            <a:xfrm>
              <a:off x="5829300" y="5848350"/>
              <a:ext cx="228600" cy="38100"/>
            </a:xfrm>
            <a:prstGeom prst="rect">
              <a:avLst/>
            </a:prstGeom>
            <a:solidFill>
              <a:srgbClr val="E7EEF5"/>
            </a:solidFill>
            <a:ln w="10477">
              <a:solidFill>
                <a:srgbClr val="52657A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generic-symbol:toolbox:right">
              <a:extLst>
                <a:ext uri="{FF2B5EF4-FFF2-40B4-BE49-F238E27FC236}">
                  <a16:creationId xmlns:a16="http://schemas.microsoft.com/office/drawing/2014/main" id="{58DE9FAC-AC50-3629-4BC1-DE9FEAE5BD9A}"/>
                </a:ext>
              </a:extLst>
            </p:cNvPr>
            <p:cNvSpPr/>
            <p:nvPr/>
          </p:nvSpPr>
          <p:spPr>
            <a:xfrm>
              <a:off x="6057900" y="5753100"/>
              <a:ext cx="114300" cy="228600"/>
            </a:xfrm>
            <a:prstGeom prst="rect">
              <a:avLst/>
            </a:prstGeom>
            <a:solidFill>
              <a:srgbClr val="E7EEF5"/>
            </a:solidFill>
            <a:ln w="10477">
              <a:solidFill>
                <a:srgbClr val="52657A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service-label:toolbox">
              <a:extLst>
                <a:ext uri="{FF2B5EF4-FFF2-40B4-BE49-F238E27FC236}">
                  <a16:creationId xmlns:a16="http://schemas.microsoft.com/office/drawing/2014/main" id="{A7BA4827-F215-9411-93DB-35C974DC5CBF}"/>
                </a:ext>
              </a:extLst>
            </p:cNvPr>
            <p:cNvSpPr txBox="1"/>
            <p:nvPr/>
          </p:nvSpPr>
          <p:spPr>
            <a:xfrm>
              <a:off x="4495800" y="6153150"/>
              <a:ext cx="28956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en-US" altLang="ja-JP" sz="1350">
                  <a:solidFill>
                    <a:srgbClr val="172B4D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Toolbox / Skills</a:t>
              </a:r>
              <a:endParaRPr kumimoji="1" lang="ja-JP" altLang="en-US" sz="13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endParaRPr>
            </a:p>
          </p:txBody>
        </p:sp>
        <p:sp>
          <p:nvSpPr>
            <p:cNvPr id="36" name="service-detail:toolbox">
              <a:extLst>
                <a:ext uri="{FF2B5EF4-FFF2-40B4-BE49-F238E27FC236}">
                  <a16:creationId xmlns:a16="http://schemas.microsoft.com/office/drawing/2014/main" id="{1A9F8B27-C56E-163F-2755-F4FFBECB05B4}"/>
                </a:ext>
              </a:extLst>
            </p:cNvPr>
            <p:cNvSpPr txBox="1"/>
            <p:nvPr/>
          </p:nvSpPr>
          <p:spPr>
            <a:xfrm>
              <a:off x="4495800" y="6410325"/>
              <a:ext cx="2895600" cy="5238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contoso-travel-toolbox
Lab 4 </a:t>
              </a:r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で作成 </a:t>
              </a:r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/ OpenAPI tool</a:t>
              </a:r>
              <a:endParaRPr kumimoji="1" lang="ja-JP" altLang="en-US" sz="1050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endParaRPr>
            </a:p>
          </p:txBody>
        </p:sp>
      </p:grpSp>
      <p:grpSp>
        <p:nvGrpSpPr>
          <p:cNvPr id="43" name="service:models" descr="service;parent=account">
            <a:extLst>
              <a:ext uri="{FF2B5EF4-FFF2-40B4-BE49-F238E27FC236}">
                <a16:creationId xmlns:a16="http://schemas.microsoft.com/office/drawing/2014/main" id="{2012DEAF-7752-AFB1-9D18-079F7E749764}"/>
              </a:ext>
            </a:extLst>
          </p:cNvPr>
          <p:cNvGrpSpPr/>
          <p:nvPr/>
        </p:nvGrpSpPr>
        <p:grpSpPr>
          <a:xfrm>
            <a:off x="8610600" y="3162300"/>
            <a:ext cx="2209800" cy="1447800"/>
            <a:chOff x="8610600" y="3162300"/>
            <a:chExt cx="2209800" cy="1447800"/>
          </a:xfrm>
        </p:grpSpPr>
        <p:sp>
          <p:nvSpPr>
            <p:cNvPr id="38" name="service-anchor:models">
              <a:extLst>
                <a:ext uri="{FF2B5EF4-FFF2-40B4-BE49-F238E27FC236}">
                  <a16:creationId xmlns:a16="http://schemas.microsoft.com/office/drawing/2014/main" id="{E9550933-5D0B-3580-3621-079E2A5DB27B}"/>
                </a:ext>
              </a:extLst>
            </p:cNvPr>
            <p:cNvSpPr/>
            <p:nvPr/>
          </p:nvSpPr>
          <p:spPr>
            <a:xfrm>
              <a:off x="8610600" y="3162300"/>
              <a:ext cx="2209800" cy="14478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40" name="official-icon:models" descr="Foundry Models">
              <a:extLst>
                <a:ext uri="{FF2B5EF4-FFF2-40B4-BE49-F238E27FC236}">
                  <a16:creationId xmlns:a16="http://schemas.microsoft.com/office/drawing/2014/main" id="{CEDA375C-4D76-96F4-566F-2BDA877533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486900" y="3162300"/>
              <a:ext cx="457200" cy="457200"/>
            </a:xfrm>
            <a:prstGeom prst="rect">
              <a:avLst/>
            </a:prstGeom>
          </p:spPr>
        </p:pic>
        <p:sp>
          <p:nvSpPr>
            <p:cNvPr id="41" name="service-label:models">
              <a:extLst>
                <a:ext uri="{FF2B5EF4-FFF2-40B4-BE49-F238E27FC236}">
                  <a16:creationId xmlns:a16="http://schemas.microsoft.com/office/drawing/2014/main" id="{A4F61D57-9243-BFEC-5093-BF4EA02BB410}"/>
                </a:ext>
              </a:extLst>
            </p:cNvPr>
            <p:cNvSpPr txBox="1"/>
            <p:nvPr/>
          </p:nvSpPr>
          <p:spPr>
            <a:xfrm>
              <a:off x="8610600" y="3676650"/>
              <a:ext cx="22098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en-US" altLang="ja-JP" sz="1350">
                  <a:solidFill>
                    <a:srgbClr val="172B4D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Foundry Models</a:t>
              </a:r>
              <a:endParaRPr kumimoji="1" lang="ja-JP" altLang="en-US" sz="13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endParaRPr>
            </a:p>
          </p:txBody>
        </p:sp>
        <p:sp>
          <p:nvSpPr>
            <p:cNvPr id="42" name="service-detail:models">
              <a:extLst>
                <a:ext uri="{FF2B5EF4-FFF2-40B4-BE49-F238E27FC236}">
                  <a16:creationId xmlns:a16="http://schemas.microsoft.com/office/drawing/2014/main" id="{DC01A791-809F-1786-4475-D18D42D3EE83}"/>
                </a:ext>
              </a:extLst>
            </p:cNvPr>
            <p:cNvSpPr txBox="1"/>
            <p:nvPr/>
          </p:nvSpPr>
          <p:spPr>
            <a:xfrm>
              <a:off x="8610600" y="3933825"/>
              <a:ext cx="2209800" cy="6762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gpt-5.6-luna / gpt-5.5
text-embedding-3-small</a:t>
              </a:r>
              <a:endParaRPr kumimoji="1" lang="ja-JP" altLang="en-US" sz="1050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endParaRPr>
            </a:p>
          </p:txBody>
        </p:sp>
      </p:grpSp>
      <p:grpSp>
        <p:nvGrpSpPr>
          <p:cNvPr id="49" name="service:iq" descr="service;parent=search-service">
            <a:extLst>
              <a:ext uri="{FF2B5EF4-FFF2-40B4-BE49-F238E27FC236}">
                <a16:creationId xmlns:a16="http://schemas.microsoft.com/office/drawing/2014/main" id="{7F3CFD79-3E2D-DE56-0C98-4629BC3DA7B2}"/>
              </a:ext>
            </a:extLst>
          </p:cNvPr>
          <p:cNvGrpSpPr/>
          <p:nvPr/>
        </p:nvGrpSpPr>
        <p:grpSpPr>
          <a:xfrm>
            <a:off x="11887200" y="3200400"/>
            <a:ext cx="2895600" cy="1371600"/>
            <a:chOff x="11887200" y="3200400"/>
            <a:chExt cx="2895600" cy="1371600"/>
          </a:xfrm>
        </p:grpSpPr>
        <p:sp>
          <p:nvSpPr>
            <p:cNvPr id="44" name="service-anchor:iq">
              <a:extLst>
                <a:ext uri="{FF2B5EF4-FFF2-40B4-BE49-F238E27FC236}">
                  <a16:creationId xmlns:a16="http://schemas.microsoft.com/office/drawing/2014/main" id="{639AD70D-7099-2575-9627-B42421CAB87B}"/>
                </a:ext>
              </a:extLst>
            </p:cNvPr>
            <p:cNvSpPr/>
            <p:nvPr/>
          </p:nvSpPr>
          <p:spPr>
            <a:xfrm>
              <a:off x="11887200" y="3200400"/>
              <a:ext cx="2895600" cy="13716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46" name="official-icon:iq" descr="Foundry IQ">
              <a:extLst>
                <a:ext uri="{FF2B5EF4-FFF2-40B4-BE49-F238E27FC236}">
                  <a16:creationId xmlns:a16="http://schemas.microsoft.com/office/drawing/2014/main" id="{33367A9A-6765-E6E4-A980-6D09A3AC8C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106400" y="3200400"/>
              <a:ext cx="457200" cy="457200"/>
            </a:xfrm>
            <a:prstGeom prst="rect">
              <a:avLst/>
            </a:prstGeom>
          </p:spPr>
        </p:pic>
        <p:sp>
          <p:nvSpPr>
            <p:cNvPr id="47" name="service-label:iq">
              <a:extLst>
                <a:ext uri="{FF2B5EF4-FFF2-40B4-BE49-F238E27FC236}">
                  <a16:creationId xmlns:a16="http://schemas.microsoft.com/office/drawing/2014/main" id="{30EF26EC-8F1C-8993-A98F-17CD84521C84}"/>
                </a:ext>
              </a:extLst>
            </p:cNvPr>
            <p:cNvSpPr txBox="1"/>
            <p:nvPr/>
          </p:nvSpPr>
          <p:spPr>
            <a:xfrm>
              <a:off x="11887200" y="3714750"/>
              <a:ext cx="28956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en-US" altLang="ja-JP" sz="1350">
                  <a:solidFill>
                    <a:srgbClr val="172B4D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Foundry IQ</a:t>
              </a:r>
              <a:endParaRPr kumimoji="1" lang="ja-JP" altLang="en-US" sz="13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endParaRPr>
            </a:p>
          </p:txBody>
        </p:sp>
        <p:sp>
          <p:nvSpPr>
            <p:cNvPr id="48" name="service-detail:iq">
              <a:extLst>
                <a:ext uri="{FF2B5EF4-FFF2-40B4-BE49-F238E27FC236}">
                  <a16:creationId xmlns:a16="http://schemas.microsoft.com/office/drawing/2014/main" id="{725454D6-5C36-2CFD-0DF6-F55BA5AA283D}"/>
                </a:ext>
              </a:extLst>
            </p:cNvPr>
            <p:cNvSpPr txBox="1"/>
            <p:nvPr/>
          </p:nvSpPr>
          <p:spPr>
            <a:xfrm>
              <a:off x="11887200" y="3971925"/>
              <a:ext cx="2895600" cy="6000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Knowledge base</a:t>
              </a:r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（</a:t>
              </a:r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Lab 3 </a:t>
              </a:r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で作成）
</a:t>
              </a:r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contoso-travel-knowledge-lab</a:t>
              </a:r>
              <a:endParaRPr kumimoji="1" lang="ja-JP" altLang="en-US" sz="1050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endParaRPr>
            </a:p>
          </p:txBody>
        </p:sp>
      </p:grpSp>
      <p:grpSp>
        <p:nvGrpSpPr>
          <p:cNvPr id="55" name="service:search" descr="service;parent=search-service">
            <a:extLst>
              <a:ext uri="{FF2B5EF4-FFF2-40B4-BE49-F238E27FC236}">
                <a16:creationId xmlns:a16="http://schemas.microsoft.com/office/drawing/2014/main" id="{611A9785-E34E-38F4-63EC-151F90822013}"/>
              </a:ext>
            </a:extLst>
          </p:cNvPr>
          <p:cNvGrpSpPr/>
          <p:nvPr/>
        </p:nvGrpSpPr>
        <p:grpSpPr>
          <a:xfrm>
            <a:off x="11887200" y="5181600"/>
            <a:ext cx="2895600" cy="1447800"/>
            <a:chOff x="11887200" y="5181600"/>
            <a:chExt cx="2895600" cy="1447800"/>
          </a:xfrm>
        </p:grpSpPr>
        <p:sp>
          <p:nvSpPr>
            <p:cNvPr id="50" name="service-anchor:search">
              <a:extLst>
                <a:ext uri="{FF2B5EF4-FFF2-40B4-BE49-F238E27FC236}">
                  <a16:creationId xmlns:a16="http://schemas.microsoft.com/office/drawing/2014/main" id="{1D9D091D-EED1-8DEA-1CE0-B0B6E06D457F}"/>
                </a:ext>
              </a:extLst>
            </p:cNvPr>
            <p:cNvSpPr/>
            <p:nvPr/>
          </p:nvSpPr>
          <p:spPr>
            <a:xfrm>
              <a:off x="11887200" y="5181600"/>
              <a:ext cx="2895600" cy="14478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2" name="official-icon:search" descr="Azure AI Search 検索インデックス">
              <a:extLst>
                <a:ext uri="{FF2B5EF4-FFF2-40B4-BE49-F238E27FC236}">
                  <a16:creationId xmlns:a16="http://schemas.microsoft.com/office/drawing/2014/main" id="{5656BFCF-C940-EEFE-E02B-14501DE4CC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3106400" y="5181600"/>
              <a:ext cx="457200" cy="457200"/>
            </a:xfrm>
            <a:prstGeom prst="rect">
              <a:avLst/>
            </a:prstGeom>
          </p:spPr>
        </p:pic>
        <p:sp>
          <p:nvSpPr>
            <p:cNvPr id="53" name="service-label:search">
              <a:extLst>
                <a:ext uri="{FF2B5EF4-FFF2-40B4-BE49-F238E27FC236}">
                  <a16:creationId xmlns:a16="http://schemas.microsoft.com/office/drawing/2014/main" id="{07625044-BCC0-2D58-8ADD-488EE8B19FB7}"/>
                </a:ext>
              </a:extLst>
            </p:cNvPr>
            <p:cNvSpPr txBox="1"/>
            <p:nvPr/>
          </p:nvSpPr>
          <p:spPr>
            <a:xfrm>
              <a:off x="11887200" y="5695950"/>
              <a:ext cx="2895600" cy="457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en-US" altLang="ja-JP" sz="1350">
                  <a:solidFill>
                    <a:srgbClr val="172B4D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Azure AI Search
</a:t>
              </a:r>
              <a:r>
                <a:rPr kumimoji="1" lang="ja-JP" altLang="en-US" sz="1350">
                  <a:solidFill>
                    <a:srgbClr val="172B4D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検索インデックス</a:t>
              </a:r>
            </a:p>
          </p:txBody>
        </p:sp>
        <p:sp>
          <p:nvSpPr>
            <p:cNvPr id="54" name="service-detail:search">
              <a:extLst>
                <a:ext uri="{FF2B5EF4-FFF2-40B4-BE49-F238E27FC236}">
                  <a16:creationId xmlns:a16="http://schemas.microsoft.com/office/drawing/2014/main" id="{4FA5EDD4-F2D3-B70D-6F60-7CF2FE6E307E}"/>
                </a:ext>
              </a:extLst>
            </p:cNvPr>
            <p:cNvSpPr txBox="1"/>
            <p:nvPr/>
          </p:nvSpPr>
          <p:spPr>
            <a:xfrm>
              <a:off x="11887200" y="6181725"/>
              <a:ext cx="2895600" cy="4476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contoso-travel-policy
contoso-travel-approval</a:t>
              </a:r>
              <a:endParaRPr kumimoji="1" lang="ja-JP" altLang="en-US" sz="1050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endParaRPr>
            </a:p>
          </p:txBody>
        </p:sp>
      </p:grpSp>
      <p:grpSp>
        <p:nvGrpSpPr>
          <p:cNvPr id="61" name="service:api" descr="service;parent=api-host">
            <a:extLst>
              <a:ext uri="{FF2B5EF4-FFF2-40B4-BE49-F238E27FC236}">
                <a16:creationId xmlns:a16="http://schemas.microsoft.com/office/drawing/2014/main" id="{FBC139E8-DB44-AF6C-938F-690C5EF192B4}"/>
              </a:ext>
            </a:extLst>
          </p:cNvPr>
          <p:cNvGrpSpPr/>
          <p:nvPr/>
        </p:nvGrpSpPr>
        <p:grpSpPr>
          <a:xfrm>
            <a:off x="11658600" y="7391400"/>
            <a:ext cx="4267200" cy="1447800"/>
            <a:chOff x="11658600" y="7391400"/>
            <a:chExt cx="4267200" cy="1447800"/>
          </a:xfrm>
        </p:grpSpPr>
        <p:sp>
          <p:nvSpPr>
            <p:cNvPr id="56" name="service-anchor:api">
              <a:extLst>
                <a:ext uri="{FF2B5EF4-FFF2-40B4-BE49-F238E27FC236}">
                  <a16:creationId xmlns:a16="http://schemas.microsoft.com/office/drawing/2014/main" id="{991958F8-2F21-0DF3-B921-C0FD4668DF7E}"/>
                </a:ext>
              </a:extLst>
            </p:cNvPr>
            <p:cNvSpPr/>
            <p:nvPr/>
          </p:nvSpPr>
          <p:spPr>
            <a:xfrm>
              <a:off x="11658600" y="7391400"/>
              <a:ext cx="4267200" cy="14478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58" name="official-icon:api" descr="Travel Ops API Azure Container Apps">
              <a:extLst>
                <a:ext uri="{FF2B5EF4-FFF2-40B4-BE49-F238E27FC236}">
                  <a16:creationId xmlns:a16="http://schemas.microsoft.com/office/drawing/2014/main" id="{B89902B7-A3CC-9F4C-35F0-AF4470DA38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3563600" y="7391400"/>
              <a:ext cx="457200" cy="457200"/>
            </a:xfrm>
            <a:prstGeom prst="rect">
              <a:avLst/>
            </a:prstGeom>
          </p:spPr>
        </p:pic>
        <p:sp>
          <p:nvSpPr>
            <p:cNvPr id="59" name="service-label:api">
              <a:extLst>
                <a:ext uri="{FF2B5EF4-FFF2-40B4-BE49-F238E27FC236}">
                  <a16:creationId xmlns:a16="http://schemas.microsoft.com/office/drawing/2014/main" id="{14C691C4-6662-DB0D-47FF-329F8529218A}"/>
                </a:ext>
              </a:extLst>
            </p:cNvPr>
            <p:cNvSpPr txBox="1"/>
            <p:nvPr/>
          </p:nvSpPr>
          <p:spPr>
            <a:xfrm>
              <a:off x="11658600" y="7905750"/>
              <a:ext cx="4267200" cy="4572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en-US" altLang="ja-JP" sz="1350">
                  <a:solidFill>
                    <a:srgbClr val="172B4D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Travel Ops API
Azure Container Apps</a:t>
              </a:r>
              <a:endParaRPr kumimoji="1" lang="ja-JP" altLang="en-US" sz="13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endParaRPr>
            </a:p>
          </p:txBody>
        </p:sp>
        <p:sp>
          <p:nvSpPr>
            <p:cNvPr id="60" name="service-detail:api">
              <a:extLst>
                <a:ext uri="{FF2B5EF4-FFF2-40B4-BE49-F238E27FC236}">
                  <a16:creationId xmlns:a16="http://schemas.microsoft.com/office/drawing/2014/main" id="{F4D83EE7-42F8-F8D6-A115-9174D3A28053}"/>
                </a:ext>
              </a:extLst>
            </p:cNvPr>
            <p:cNvSpPr txBox="1"/>
            <p:nvPr/>
          </p:nvSpPr>
          <p:spPr>
            <a:xfrm>
              <a:off x="11658600" y="8391525"/>
              <a:ext cx="4267200" cy="4476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日当照会・見積もり・承認シミュレーション </a:t>
              </a:r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/ </a:t>
              </a:r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合成データ</a:t>
              </a:r>
            </a:p>
          </p:txBody>
        </p:sp>
      </p:grpSp>
      <p:grpSp>
        <p:nvGrpSpPr>
          <p:cNvPr id="67" name="service:insights" descr="service;parent=azure">
            <a:extLst>
              <a:ext uri="{FF2B5EF4-FFF2-40B4-BE49-F238E27FC236}">
                <a16:creationId xmlns:a16="http://schemas.microsoft.com/office/drawing/2014/main" id="{0395E166-3ED5-9D08-668B-B068C9BF7499}"/>
              </a:ext>
            </a:extLst>
          </p:cNvPr>
          <p:cNvGrpSpPr/>
          <p:nvPr/>
        </p:nvGrpSpPr>
        <p:grpSpPr>
          <a:xfrm>
            <a:off x="5029200" y="7772400"/>
            <a:ext cx="2438400" cy="1219200"/>
            <a:chOff x="5029200" y="7772400"/>
            <a:chExt cx="2438400" cy="1219200"/>
          </a:xfrm>
        </p:grpSpPr>
        <p:sp>
          <p:nvSpPr>
            <p:cNvPr id="62" name="service-anchor:insights">
              <a:extLst>
                <a:ext uri="{FF2B5EF4-FFF2-40B4-BE49-F238E27FC236}">
                  <a16:creationId xmlns:a16="http://schemas.microsoft.com/office/drawing/2014/main" id="{686A3D82-F07C-BC4B-F22B-007FBB705182}"/>
                </a:ext>
              </a:extLst>
            </p:cNvPr>
            <p:cNvSpPr/>
            <p:nvPr/>
          </p:nvSpPr>
          <p:spPr>
            <a:xfrm>
              <a:off x="5029200" y="7772400"/>
              <a:ext cx="2438400" cy="12192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4" name="official-icon:insights" descr="Application Insights">
              <a:extLst>
                <a:ext uri="{FF2B5EF4-FFF2-40B4-BE49-F238E27FC236}">
                  <a16:creationId xmlns:a16="http://schemas.microsoft.com/office/drawing/2014/main" id="{25748524-511D-E901-3D4C-0970449D613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019800" y="7772400"/>
              <a:ext cx="457200" cy="457200"/>
            </a:xfrm>
            <a:prstGeom prst="rect">
              <a:avLst/>
            </a:prstGeom>
          </p:spPr>
        </p:pic>
        <p:sp>
          <p:nvSpPr>
            <p:cNvPr id="65" name="service-label:insights">
              <a:extLst>
                <a:ext uri="{FF2B5EF4-FFF2-40B4-BE49-F238E27FC236}">
                  <a16:creationId xmlns:a16="http://schemas.microsoft.com/office/drawing/2014/main" id="{126C425A-F6E2-0472-F99D-F3249815C8E8}"/>
                </a:ext>
              </a:extLst>
            </p:cNvPr>
            <p:cNvSpPr txBox="1"/>
            <p:nvPr/>
          </p:nvSpPr>
          <p:spPr>
            <a:xfrm>
              <a:off x="5029200" y="8286750"/>
              <a:ext cx="24384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en-US" altLang="ja-JP" sz="1350">
                  <a:solidFill>
                    <a:srgbClr val="172B4D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Application Insights</a:t>
              </a:r>
              <a:endParaRPr kumimoji="1" lang="ja-JP" altLang="en-US" sz="13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endParaRPr>
            </a:p>
          </p:txBody>
        </p:sp>
        <p:sp>
          <p:nvSpPr>
            <p:cNvPr id="66" name="service-detail:insights">
              <a:extLst>
                <a:ext uri="{FF2B5EF4-FFF2-40B4-BE49-F238E27FC236}">
                  <a16:creationId xmlns:a16="http://schemas.microsoft.com/office/drawing/2014/main" id="{585B5BCB-ECB4-1003-2536-41DCFB771E1A}"/>
                </a:ext>
              </a:extLst>
            </p:cNvPr>
            <p:cNvSpPr txBox="1"/>
            <p:nvPr/>
          </p:nvSpPr>
          <p:spPr>
            <a:xfrm>
              <a:off x="5029200" y="8543925"/>
              <a:ext cx="2438400" cy="4476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Agent </a:t>
              </a:r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のトレース</a:t>
              </a:r>
            </a:p>
          </p:txBody>
        </p:sp>
      </p:grpSp>
      <p:grpSp>
        <p:nvGrpSpPr>
          <p:cNvPr id="73" name="service:logs" descr="service;parent=azure">
            <a:extLst>
              <a:ext uri="{FF2B5EF4-FFF2-40B4-BE49-F238E27FC236}">
                <a16:creationId xmlns:a16="http://schemas.microsoft.com/office/drawing/2014/main" id="{76FAEB42-1850-1EB1-F388-F97836755C7A}"/>
              </a:ext>
            </a:extLst>
          </p:cNvPr>
          <p:cNvGrpSpPr/>
          <p:nvPr/>
        </p:nvGrpSpPr>
        <p:grpSpPr>
          <a:xfrm>
            <a:off x="8458200" y="7772400"/>
            <a:ext cx="2438400" cy="1219200"/>
            <a:chOff x="8458200" y="7772400"/>
            <a:chExt cx="2438400" cy="1219200"/>
          </a:xfrm>
        </p:grpSpPr>
        <p:sp>
          <p:nvSpPr>
            <p:cNvPr id="68" name="service-anchor:logs">
              <a:extLst>
                <a:ext uri="{FF2B5EF4-FFF2-40B4-BE49-F238E27FC236}">
                  <a16:creationId xmlns:a16="http://schemas.microsoft.com/office/drawing/2014/main" id="{70161483-6259-122C-26F6-02751EA831B5}"/>
                </a:ext>
              </a:extLst>
            </p:cNvPr>
            <p:cNvSpPr/>
            <p:nvPr/>
          </p:nvSpPr>
          <p:spPr>
            <a:xfrm>
              <a:off x="8458200" y="7772400"/>
              <a:ext cx="2438400" cy="12192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70" name="official-icon:logs" descr="Log Analytics">
              <a:extLst>
                <a:ext uri="{FF2B5EF4-FFF2-40B4-BE49-F238E27FC236}">
                  <a16:creationId xmlns:a16="http://schemas.microsoft.com/office/drawing/2014/main" id="{1D00BC67-D488-C1B2-8D69-B112F7268A5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448800" y="7772400"/>
              <a:ext cx="457200" cy="457200"/>
            </a:xfrm>
            <a:prstGeom prst="rect">
              <a:avLst/>
            </a:prstGeom>
          </p:spPr>
        </p:pic>
        <p:sp>
          <p:nvSpPr>
            <p:cNvPr id="71" name="service-label:logs">
              <a:extLst>
                <a:ext uri="{FF2B5EF4-FFF2-40B4-BE49-F238E27FC236}">
                  <a16:creationId xmlns:a16="http://schemas.microsoft.com/office/drawing/2014/main" id="{9A7ECE49-7019-3CB8-845E-67F9FF5D08D2}"/>
                </a:ext>
              </a:extLst>
            </p:cNvPr>
            <p:cNvSpPr txBox="1"/>
            <p:nvPr/>
          </p:nvSpPr>
          <p:spPr>
            <a:xfrm>
              <a:off x="8458200" y="8286750"/>
              <a:ext cx="24384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en-US" altLang="ja-JP" sz="1350">
                  <a:solidFill>
                    <a:srgbClr val="172B4D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Log Analytics</a:t>
              </a:r>
              <a:endParaRPr kumimoji="1" lang="ja-JP" altLang="en-US" sz="13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endParaRPr>
            </a:p>
          </p:txBody>
        </p:sp>
        <p:sp>
          <p:nvSpPr>
            <p:cNvPr id="72" name="service-detail:logs">
              <a:extLst>
                <a:ext uri="{FF2B5EF4-FFF2-40B4-BE49-F238E27FC236}">
                  <a16:creationId xmlns:a16="http://schemas.microsoft.com/office/drawing/2014/main" id="{77B1DDD6-4D88-1713-6958-A5DD7DC1E34C}"/>
                </a:ext>
              </a:extLst>
            </p:cNvPr>
            <p:cNvSpPr txBox="1"/>
            <p:nvPr/>
          </p:nvSpPr>
          <p:spPr>
            <a:xfrm>
              <a:off x="8458200" y="8543925"/>
              <a:ext cx="2438400" cy="4476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保存先 </a:t>
              </a:r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/ </a:t>
              </a:r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保持 </a:t>
              </a:r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30 </a:t>
              </a:r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日</a:t>
              </a:r>
            </a:p>
          </p:txBody>
        </p:sp>
      </p:grpSp>
      <p:cxnSp>
        <p:nvCxnSpPr>
          <p:cNvPr id="74" name="flow:user-portal:0">
            <a:extLst>
              <a:ext uri="{FF2B5EF4-FFF2-40B4-BE49-F238E27FC236}">
                <a16:creationId xmlns:a16="http://schemas.microsoft.com/office/drawing/2014/main" id="{398CA09E-2F47-C665-BE7E-0B3853D601DD}"/>
              </a:ext>
            </a:extLst>
          </p:cNvPr>
          <p:cNvCxnSpPr>
            <a:cxnSpLocks/>
            <a:stCxn id="14" idx="2"/>
            <a:endCxn id="19" idx="0"/>
          </p:cNvCxnSpPr>
          <p:nvPr/>
        </p:nvCxnSpPr>
        <p:spPr>
          <a:xfrm>
            <a:off x="1828800" y="3124200"/>
            <a:ext cx="0" cy="114300"/>
          </a:xfrm>
          <a:prstGeom prst="straightConnector1">
            <a:avLst/>
          </a:prstGeom>
          <a:ln w="17145">
            <a:solidFill>
              <a:srgbClr val="0078D4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flow:portal-agent:0">
            <a:extLst>
              <a:ext uri="{FF2B5EF4-FFF2-40B4-BE49-F238E27FC236}">
                <a16:creationId xmlns:a16="http://schemas.microsoft.com/office/drawing/2014/main" id="{2E1090CF-8B01-3209-6D82-3E6D78898A9A}"/>
              </a:ext>
            </a:extLst>
          </p:cNvPr>
          <p:cNvCxnSpPr>
            <a:cxnSpLocks/>
            <a:stCxn id="19" idx="3"/>
            <a:endCxn id="25" idx="1"/>
          </p:cNvCxnSpPr>
          <p:nvPr/>
        </p:nvCxnSpPr>
        <p:spPr>
          <a:xfrm>
            <a:off x="3048000" y="3886200"/>
            <a:ext cx="1371600" cy="0"/>
          </a:xfrm>
          <a:prstGeom prst="straightConnector1">
            <a:avLst/>
          </a:prstGeom>
          <a:ln w="17145">
            <a:solidFill>
              <a:srgbClr val="0078D4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flow-label:portal-agent">
            <a:extLst>
              <a:ext uri="{FF2B5EF4-FFF2-40B4-BE49-F238E27FC236}">
                <a16:creationId xmlns:a16="http://schemas.microsoft.com/office/drawing/2014/main" id="{8C4C835D-E6E0-A9E8-E52D-383EDA61A615}"/>
              </a:ext>
            </a:extLst>
          </p:cNvPr>
          <p:cNvSpPr txBox="1"/>
          <p:nvPr/>
        </p:nvSpPr>
        <p:spPr>
          <a:xfrm>
            <a:off x="3276600" y="3581400"/>
            <a:ext cx="914400" cy="228600"/>
          </a:xfrm>
          <a:prstGeom prst="rect">
            <a:avLst/>
          </a:prstGeom>
          <a:solidFill>
            <a:srgbClr val="FFFFFF"/>
          </a:solidFill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kumimoji="1" lang="ja-JP" altLang="en-US" sz="1050">
                <a:solidFill>
                  <a:srgbClr val="0078D4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設定・対話</a:t>
            </a:r>
          </a:p>
        </p:txBody>
      </p:sp>
      <p:cxnSp>
        <p:nvCxnSpPr>
          <p:cNvPr id="77" name="flow:agent-search:0">
            <a:extLst>
              <a:ext uri="{FF2B5EF4-FFF2-40B4-BE49-F238E27FC236}">
                <a16:creationId xmlns:a16="http://schemas.microsoft.com/office/drawing/2014/main" id="{AA77F4DC-3A10-7D3C-7E72-3C564C25D466}"/>
              </a:ext>
            </a:extLst>
          </p:cNvPr>
          <p:cNvCxnSpPr>
            <a:cxnSpLocks/>
            <a:stCxn id="25" idx="0"/>
          </p:cNvCxnSpPr>
          <p:nvPr/>
        </p:nvCxnSpPr>
        <p:spPr>
          <a:xfrm flipV="1">
            <a:off x="5943600" y="2971800"/>
            <a:ext cx="0" cy="228600"/>
          </a:xfrm>
          <a:prstGeom prst="straightConnector1">
            <a:avLst/>
          </a:prstGeom>
          <a:ln w="17145">
            <a:solidFill>
              <a:srgbClr val="0078D4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flow:agent-search:1">
            <a:extLst>
              <a:ext uri="{FF2B5EF4-FFF2-40B4-BE49-F238E27FC236}">
                <a16:creationId xmlns:a16="http://schemas.microsoft.com/office/drawing/2014/main" id="{4910D757-DBFF-3849-8EDB-BC6CC4C1A642}"/>
              </a:ext>
            </a:extLst>
          </p:cNvPr>
          <p:cNvCxnSpPr/>
          <p:nvPr/>
        </p:nvCxnSpPr>
        <p:spPr>
          <a:xfrm>
            <a:off x="5943600" y="2971800"/>
            <a:ext cx="2286000" cy="0"/>
          </a:xfrm>
          <a:prstGeom prst="straightConnector1">
            <a:avLst/>
          </a:prstGeom>
          <a:ln w="17145">
            <a:solidFill>
              <a:srgbClr val="0078D4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flow:agent-search:2">
            <a:extLst>
              <a:ext uri="{FF2B5EF4-FFF2-40B4-BE49-F238E27FC236}">
                <a16:creationId xmlns:a16="http://schemas.microsoft.com/office/drawing/2014/main" id="{BBED397B-C8A4-AB0B-43F3-AF242D34280F}"/>
              </a:ext>
            </a:extLst>
          </p:cNvPr>
          <p:cNvCxnSpPr/>
          <p:nvPr/>
        </p:nvCxnSpPr>
        <p:spPr>
          <a:xfrm flipV="1">
            <a:off x="8229600" y="1828800"/>
            <a:ext cx="0" cy="1143000"/>
          </a:xfrm>
          <a:prstGeom prst="straightConnector1">
            <a:avLst/>
          </a:prstGeom>
          <a:ln w="17145">
            <a:solidFill>
              <a:srgbClr val="0078D4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flow:agent-search:3">
            <a:extLst>
              <a:ext uri="{FF2B5EF4-FFF2-40B4-BE49-F238E27FC236}">
                <a16:creationId xmlns:a16="http://schemas.microsoft.com/office/drawing/2014/main" id="{B7BC0E2E-0B2B-618E-A3E1-0CEDEC5D0679}"/>
              </a:ext>
            </a:extLst>
          </p:cNvPr>
          <p:cNvCxnSpPr/>
          <p:nvPr/>
        </p:nvCxnSpPr>
        <p:spPr>
          <a:xfrm>
            <a:off x="8229600" y="1828800"/>
            <a:ext cx="7543800" cy="0"/>
          </a:xfrm>
          <a:prstGeom prst="straightConnector1">
            <a:avLst/>
          </a:prstGeom>
          <a:ln w="17145">
            <a:solidFill>
              <a:srgbClr val="0078D4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flow:agent-search:4">
            <a:extLst>
              <a:ext uri="{FF2B5EF4-FFF2-40B4-BE49-F238E27FC236}">
                <a16:creationId xmlns:a16="http://schemas.microsoft.com/office/drawing/2014/main" id="{7F113B47-BDE4-3F36-9FE3-218F95061B64}"/>
              </a:ext>
            </a:extLst>
          </p:cNvPr>
          <p:cNvCxnSpPr/>
          <p:nvPr/>
        </p:nvCxnSpPr>
        <p:spPr>
          <a:xfrm>
            <a:off x="15773400" y="1828800"/>
            <a:ext cx="0" cy="4076700"/>
          </a:xfrm>
          <a:prstGeom prst="straightConnector1">
            <a:avLst/>
          </a:prstGeom>
          <a:ln w="17145">
            <a:solidFill>
              <a:srgbClr val="0078D4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flow:agent-search:5">
            <a:extLst>
              <a:ext uri="{FF2B5EF4-FFF2-40B4-BE49-F238E27FC236}">
                <a16:creationId xmlns:a16="http://schemas.microsoft.com/office/drawing/2014/main" id="{4581847D-7FFE-74F0-FF68-59DCE4A7375F}"/>
              </a:ext>
            </a:extLst>
          </p:cNvPr>
          <p:cNvCxnSpPr>
            <a:cxnSpLocks/>
            <a:endCxn id="50" idx="3"/>
          </p:cNvCxnSpPr>
          <p:nvPr/>
        </p:nvCxnSpPr>
        <p:spPr>
          <a:xfrm flipH="1">
            <a:off x="14782800" y="5905500"/>
            <a:ext cx="990600" cy="0"/>
          </a:xfrm>
          <a:prstGeom prst="straightConnector1">
            <a:avLst/>
          </a:prstGeom>
          <a:ln w="17145">
            <a:solidFill>
              <a:srgbClr val="0078D4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flow-label:agent-search">
            <a:extLst>
              <a:ext uri="{FF2B5EF4-FFF2-40B4-BE49-F238E27FC236}">
                <a16:creationId xmlns:a16="http://schemas.microsoft.com/office/drawing/2014/main" id="{C10D9897-F32F-6318-D619-CEBA637269A6}"/>
              </a:ext>
            </a:extLst>
          </p:cNvPr>
          <p:cNvSpPr txBox="1"/>
          <p:nvPr/>
        </p:nvSpPr>
        <p:spPr>
          <a:xfrm>
            <a:off x="11425428" y="2000250"/>
            <a:ext cx="2514600" cy="228600"/>
          </a:xfrm>
          <a:prstGeom prst="rect">
            <a:avLst/>
          </a:prstGeom>
          <a:solidFill>
            <a:srgbClr val="FFFFFF"/>
          </a:solidFill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kumimoji="1" lang="en-US" altLang="ja-JP" sz="1050">
                <a:solidFill>
                  <a:srgbClr val="0078D4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Lab 2: </a:t>
            </a:r>
            <a:r>
              <a:rPr kumimoji="1" lang="ja-JP" altLang="en-US" sz="1050">
                <a:solidFill>
                  <a:srgbClr val="0078D4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直接検索（</a:t>
            </a:r>
            <a:r>
              <a:rPr kumimoji="1" lang="en-US" altLang="ja-JP" sz="1050">
                <a:solidFill>
                  <a:srgbClr val="0078D4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Lab 3 </a:t>
            </a:r>
            <a:r>
              <a:rPr kumimoji="1" lang="ja-JP" altLang="en-US" sz="1050">
                <a:solidFill>
                  <a:srgbClr val="0078D4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で解除）</a:t>
            </a:r>
          </a:p>
        </p:txBody>
      </p:sp>
      <p:cxnSp>
        <p:nvCxnSpPr>
          <p:cNvPr id="84" name="flow:agent-model:0">
            <a:extLst>
              <a:ext uri="{FF2B5EF4-FFF2-40B4-BE49-F238E27FC236}">
                <a16:creationId xmlns:a16="http://schemas.microsoft.com/office/drawing/2014/main" id="{A891C348-948F-D9D4-9875-1B25E803AC42}"/>
              </a:ext>
            </a:extLst>
          </p:cNvPr>
          <p:cNvCxnSpPr>
            <a:cxnSpLocks/>
            <a:stCxn id="25" idx="3"/>
            <a:endCxn id="38" idx="1"/>
          </p:cNvCxnSpPr>
          <p:nvPr/>
        </p:nvCxnSpPr>
        <p:spPr>
          <a:xfrm>
            <a:off x="7467600" y="3886200"/>
            <a:ext cx="1143000" cy="0"/>
          </a:xfrm>
          <a:prstGeom prst="straightConnector1">
            <a:avLst/>
          </a:prstGeom>
          <a:ln w="17145">
            <a:solidFill>
              <a:srgbClr val="0078D4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flow-label:agent-model">
            <a:extLst>
              <a:ext uri="{FF2B5EF4-FFF2-40B4-BE49-F238E27FC236}">
                <a16:creationId xmlns:a16="http://schemas.microsoft.com/office/drawing/2014/main" id="{65B7C843-C2BB-49A5-FA84-707BB62C7B04}"/>
              </a:ext>
            </a:extLst>
          </p:cNvPr>
          <p:cNvSpPr txBox="1"/>
          <p:nvPr/>
        </p:nvSpPr>
        <p:spPr>
          <a:xfrm>
            <a:off x="7658100" y="3581400"/>
            <a:ext cx="762000" cy="228600"/>
          </a:xfrm>
          <a:prstGeom prst="rect">
            <a:avLst/>
          </a:prstGeom>
          <a:solidFill>
            <a:srgbClr val="FFFFFF"/>
          </a:solidFill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kumimoji="1" lang="ja-JP" altLang="en-US" sz="1050">
                <a:solidFill>
                  <a:srgbClr val="0078D4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推論</a:t>
            </a:r>
          </a:p>
        </p:txBody>
      </p:sp>
      <p:cxnSp>
        <p:nvCxnSpPr>
          <p:cNvPr id="86" name="flow:agent-iq:0">
            <a:extLst>
              <a:ext uri="{FF2B5EF4-FFF2-40B4-BE49-F238E27FC236}">
                <a16:creationId xmlns:a16="http://schemas.microsoft.com/office/drawing/2014/main" id="{C66CA7E4-D25E-74B0-3816-F0C637B9CDD3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5943600" y="4572000"/>
            <a:ext cx="0" cy="381000"/>
          </a:xfrm>
          <a:prstGeom prst="straightConnector1">
            <a:avLst/>
          </a:prstGeom>
          <a:ln w="17145">
            <a:solidFill>
              <a:srgbClr val="0078D4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flow:agent-iq:1">
            <a:extLst>
              <a:ext uri="{FF2B5EF4-FFF2-40B4-BE49-F238E27FC236}">
                <a16:creationId xmlns:a16="http://schemas.microsoft.com/office/drawing/2014/main" id="{38AE09C2-34EC-C8D4-5205-35284417AA5B}"/>
              </a:ext>
            </a:extLst>
          </p:cNvPr>
          <p:cNvCxnSpPr/>
          <p:nvPr/>
        </p:nvCxnSpPr>
        <p:spPr>
          <a:xfrm>
            <a:off x="5943600" y="4953000"/>
            <a:ext cx="5334000" cy="0"/>
          </a:xfrm>
          <a:prstGeom prst="straightConnector1">
            <a:avLst/>
          </a:prstGeom>
          <a:ln w="17145">
            <a:solidFill>
              <a:srgbClr val="0078D4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flow:agent-iq:2">
            <a:extLst>
              <a:ext uri="{FF2B5EF4-FFF2-40B4-BE49-F238E27FC236}">
                <a16:creationId xmlns:a16="http://schemas.microsoft.com/office/drawing/2014/main" id="{0073DAF4-33A1-7C31-047B-39C8ECD198BC}"/>
              </a:ext>
            </a:extLst>
          </p:cNvPr>
          <p:cNvCxnSpPr/>
          <p:nvPr/>
        </p:nvCxnSpPr>
        <p:spPr>
          <a:xfrm flipV="1">
            <a:off x="11277600" y="3886200"/>
            <a:ext cx="0" cy="1066800"/>
          </a:xfrm>
          <a:prstGeom prst="straightConnector1">
            <a:avLst/>
          </a:prstGeom>
          <a:ln w="17145">
            <a:solidFill>
              <a:srgbClr val="0078D4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flow:agent-iq:3">
            <a:extLst>
              <a:ext uri="{FF2B5EF4-FFF2-40B4-BE49-F238E27FC236}">
                <a16:creationId xmlns:a16="http://schemas.microsoft.com/office/drawing/2014/main" id="{EB0C7450-DE3D-90F6-5136-95B451C3C933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11277600" y="3886200"/>
            <a:ext cx="609600" cy="0"/>
          </a:xfrm>
          <a:prstGeom prst="straightConnector1">
            <a:avLst/>
          </a:prstGeom>
          <a:ln w="17145">
            <a:solidFill>
              <a:srgbClr val="0078D4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flow-label:agent-iq">
            <a:extLst>
              <a:ext uri="{FF2B5EF4-FFF2-40B4-BE49-F238E27FC236}">
                <a16:creationId xmlns:a16="http://schemas.microsoft.com/office/drawing/2014/main" id="{89F40D54-DED1-CDC6-95A6-6C37D8D99082}"/>
              </a:ext>
            </a:extLst>
          </p:cNvPr>
          <p:cNvSpPr txBox="1"/>
          <p:nvPr/>
        </p:nvSpPr>
        <p:spPr>
          <a:xfrm>
            <a:off x="8648700" y="4648200"/>
            <a:ext cx="2133600" cy="228600"/>
          </a:xfrm>
          <a:prstGeom prst="rect">
            <a:avLst/>
          </a:prstGeom>
          <a:solidFill>
            <a:srgbClr val="FFFFFF"/>
          </a:solidFill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kumimoji="1" lang="en-US" altLang="ja-JP" sz="1050">
                <a:solidFill>
                  <a:srgbClr val="0078D4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Lab 3 </a:t>
            </a:r>
            <a:r>
              <a:rPr kumimoji="1" lang="ja-JP" altLang="en-US" sz="1050">
                <a:solidFill>
                  <a:srgbClr val="0078D4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以降</a:t>
            </a:r>
            <a:r>
              <a:rPr kumimoji="1" lang="en-US" altLang="ja-JP" sz="1050">
                <a:solidFill>
                  <a:srgbClr val="0078D4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: MCP / </a:t>
            </a:r>
            <a:r>
              <a:rPr kumimoji="1" lang="ja-JP" altLang="en-US" sz="1050">
                <a:solidFill>
                  <a:srgbClr val="0078D4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規程検索</a:t>
            </a:r>
          </a:p>
        </p:txBody>
      </p:sp>
      <p:cxnSp>
        <p:nvCxnSpPr>
          <p:cNvPr id="91" name="flow:iq-search:0">
            <a:extLst>
              <a:ext uri="{FF2B5EF4-FFF2-40B4-BE49-F238E27FC236}">
                <a16:creationId xmlns:a16="http://schemas.microsoft.com/office/drawing/2014/main" id="{E8953286-9319-29BA-6504-C8C02C21055B}"/>
              </a:ext>
            </a:extLst>
          </p:cNvPr>
          <p:cNvCxnSpPr>
            <a:cxnSpLocks/>
            <a:stCxn id="44" idx="2"/>
            <a:endCxn id="50" idx="0"/>
          </p:cNvCxnSpPr>
          <p:nvPr/>
        </p:nvCxnSpPr>
        <p:spPr>
          <a:xfrm>
            <a:off x="13335000" y="4572000"/>
            <a:ext cx="0" cy="609600"/>
          </a:xfrm>
          <a:prstGeom prst="straightConnector1">
            <a:avLst/>
          </a:prstGeom>
          <a:ln w="17145">
            <a:solidFill>
              <a:srgbClr val="0078D4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flow-label:iq-search">
            <a:extLst>
              <a:ext uri="{FF2B5EF4-FFF2-40B4-BE49-F238E27FC236}">
                <a16:creationId xmlns:a16="http://schemas.microsoft.com/office/drawing/2014/main" id="{614BD1DB-52DE-DE20-25D1-E325D7477C58}"/>
              </a:ext>
            </a:extLst>
          </p:cNvPr>
          <p:cNvSpPr txBox="1"/>
          <p:nvPr/>
        </p:nvSpPr>
        <p:spPr>
          <a:xfrm>
            <a:off x="13544550" y="4762500"/>
            <a:ext cx="838200" cy="228600"/>
          </a:xfrm>
          <a:prstGeom prst="rect">
            <a:avLst/>
          </a:prstGeom>
          <a:solidFill>
            <a:srgbClr val="FFFFFF"/>
          </a:solidFill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kumimoji="1" lang="en-US" altLang="ja-JP" sz="1050">
                <a:solidFill>
                  <a:srgbClr val="0078D4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2 sources</a:t>
            </a:r>
            <a:endParaRPr kumimoji="1" lang="ja-JP" altLang="en-US" sz="1050">
              <a:solidFill>
                <a:srgbClr val="0078D4"/>
              </a:solidFill>
              <a:latin typeface="Segoe UI" panose="020B0502040204020203" pitchFamily="34" charset="0"/>
              <a:ea typeface="Yu Gothic" panose="020B0400000000000000" pitchFamily="50" charset="-128"/>
            </a:endParaRPr>
          </a:p>
        </p:txBody>
      </p:sp>
      <p:cxnSp>
        <p:nvCxnSpPr>
          <p:cNvPr id="93" name="flow:iq-planning:0">
            <a:extLst>
              <a:ext uri="{FF2B5EF4-FFF2-40B4-BE49-F238E27FC236}">
                <a16:creationId xmlns:a16="http://schemas.microsoft.com/office/drawing/2014/main" id="{D00105A6-6659-4782-B929-7F8FC7007E73}"/>
              </a:ext>
            </a:extLst>
          </p:cNvPr>
          <p:cNvCxnSpPr>
            <a:cxnSpLocks/>
            <a:stCxn id="44" idx="0"/>
          </p:cNvCxnSpPr>
          <p:nvPr/>
        </p:nvCxnSpPr>
        <p:spPr>
          <a:xfrm flipV="1">
            <a:off x="13335000" y="2895600"/>
            <a:ext cx="0" cy="304800"/>
          </a:xfrm>
          <a:prstGeom prst="straightConnector1">
            <a:avLst/>
          </a:prstGeom>
          <a:ln w="17145">
            <a:solidFill>
              <a:srgbClr val="0078D4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flow:iq-planning:1">
            <a:extLst>
              <a:ext uri="{FF2B5EF4-FFF2-40B4-BE49-F238E27FC236}">
                <a16:creationId xmlns:a16="http://schemas.microsoft.com/office/drawing/2014/main" id="{F405C422-25FA-5EF3-282E-2264A2CC43CF}"/>
              </a:ext>
            </a:extLst>
          </p:cNvPr>
          <p:cNvCxnSpPr/>
          <p:nvPr/>
        </p:nvCxnSpPr>
        <p:spPr>
          <a:xfrm flipH="1">
            <a:off x="11049000" y="2895600"/>
            <a:ext cx="2286000" cy="0"/>
          </a:xfrm>
          <a:prstGeom prst="straightConnector1">
            <a:avLst/>
          </a:prstGeom>
          <a:ln w="17145">
            <a:solidFill>
              <a:srgbClr val="0078D4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flow:iq-planning:2">
            <a:extLst>
              <a:ext uri="{FF2B5EF4-FFF2-40B4-BE49-F238E27FC236}">
                <a16:creationId xmlns:a16="http://schemas.microsoft.com/office/drawing/2014/main" id="{BA4F3E4B-FF80-95ED-ACB4-76A5BD610E3E}"/>
              </a:ext>
            </a:extLst>
          </p:cNvPr>
          <p:cNvCxnSpPr/>
          <p:nvPr/>
        </p:nvCxnSpPr>
        <p:spPr>
          <a:xfrm>
            <a:off x="11049000" y="2895600"/>
            <a:ext cx="0" cy="990600"/>
          </a:xfrm>
          <a:prstGeom prst="straightConnector1">
            <a:avLst/>
          </a:prstGeom>
          <a:ln w="17145">
            <a:solidFill>
              <a:srgbClr val="0078D4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flow:iq-planning:3">
            <a:extLst>
              <a:ext uri="{FF2B5EF4-FFF2-40B4-BE49-F238E27FC236}">
                <a16:creationId xmlns:a16="http://schemas.microsoft.com/office/drawing/2014/main" id="{A5E96A64-7D36-6737-4F58-F1A84BC06AFA}"/>
              </a:ext>
            </a:extLst>
          </p:cNvPr>
          <p:cNvCxnSpPr>
            <a:cxnSpLocks/>
            <a:endCxn id="38" idx="3"/>
          </p:cNvCxnSpPr>
          <p:nvPr/>
        </p:nvCxnSpPr>
        <p:spPr>
          <a:xfrm flipH="1">
            <a:off x="10820400" y="3886200"/>
            <a:ext cx="228600" cy="0"/>
          </a:xfrm>
          <a:prstGeom prst="straightConnector1">
            <a:avLst/>
          </a:prstGeom>
          <a:ln w="17145">
            <a:solidFill>
              <a:srgbClr val="0078D4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flow-label:iq-planning">
            <a:extLst>
              <a:ext uri="{FF2B5EF4-FFF2-40B4-BE49-F238E27FC236}">
                <a16:creationId xmlns:a16="http://schemas.microsoft.com/office/drawing/2014/main" id="{F39EBA68-3B7C-A93A-4BE1-4CBD97C23E76}"/>
              </a:ext>
            </a:extLst>
          </p:cNvPr>
          <p:cNvSpPr txBox="1"/>
          <p:nvPr/>
        </p:nvSpPr>
        <p:spPr>
          <a:xfrm>
            <a:off x="11353800" y="2933700"/>
            <a:ext cx="1524000" cy="228600"/>
          </a:xfrm>
          <a:prstGeom prst="rect">
            <a:avLst/>
          </a:prstGeom>
          <a:solidFill>
            <a:srgbClr val="FFFFFF"/>
          </a:solidFill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kumimoji="1" lang="ja-JP" altLang="en-US" sz="1050">
                <a:solidFill>
                  <a:srgbClr val="0078D4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検索計画 </a:t>
            </a:r>
            <a:r>
              <a:rPr kumimoji="1" lang="en-US" altLang="ja-JP" sz="1050">
                <a:solidFill>
                  <a:srgbClr val="0078D4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/ gpt-5.5</a:t>
            </a:r>
            <a:endParaRPr kumimoji="1" lang="ja-JP" altLang="en-US" sz="1050">
              <a:solidFill>
                <a:srgbClr val="0078D4"/>
              </a:solidFill>
              <a:latin typeface="Segoe UI" panose="020B0502040204020203" pitchFamily="34" charset="0"/>
              <a:ea typeface="Yu Gothic" panose="020B0400000000000000" pitchFamily="50" charset="-128"/>
            </a:endParaRPr>
          </a:p>
        </p:txBody>
      </p:sp>
      <p:cxnSp>
        <p:nvCxnSpPr>
          <p:cNvPr id="98" name="flow:agent-toolbox:0">
            <a:extLst>
              <a:ext uri="{FF2B5EF4-FFF2-40B4-BE49-F238E27FC236}">
                <a16:creationId xmlns:a16="http://schemas.microsoft.com/office/drawing/2014/main" id="{DC2F8289-C007-B824-D4A9-52E89F674E50}"/>
              </a:ext>
            </a:extLst>
          </p:cNvPr>
          <p:cNvCxnSpPr>
            <a:cxnSpLocks/>
            <a:stCxn id="25" idx="2"/>
            <a:endCxn id="31" idx="0"/>
          </p:cNvCxnSpPr>
          <p:nvPr/>
        </p:nvCxnSpPr>
        <p:spPr>
          <a:xfrm>
            <a:off x="5943600" y="4572000"/>
            <a:ext cx="0" cy="1066800"/>
          </a:xfrm>
          <a:prstGeom prst="straightConnector1">
            <a:avLst/>
          </a:prstGeom>
          <a:ln w="17145">
            <a:solidFill>
              <a:srgbClr val="0078D4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flow-label:agent-toolbox">
            <a:extLst>
              <a:ext uri="{FF2B5EF4-FFF2-40B4-BE49-F238E27FC236}">
                <a16:creationId xmlns:a16="http://schemas.microsoft.com/office/drawing/2014/main" id="{35AE1C3D-1189-1EE7-E2FB-2518DEB00BB0}"/>
              </a:ext>
            </a:extLst>
          </p:cNvPr>
          <p:cNvSpPr txBox="1"/>
          <p:nvPr/>
        </p:nvSpPr>
        <p:spPr>
          <a:xfrm>
            <a:off x="6305550" y="5204460"/>
            <a:ext cx="1371600" cy="228600"/>
          </a:xfrm>
          <a:prstGeom prst="rect">
            <a:avLst/>
          </a:prstGeom>
          <a:solidFill>
            <a:srgbClr val="FFFFFF"/>
          </a:solidFill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kumimoji="1" lang="en-US" altLang="ja-JP" sz="1050">
                <a:solidFill>
                  <a:srgbClr val="0078D4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MCP / Project MI</a:t>
            </a:r>
            <a:endParaRPr kumimoji="1" lang="ja-JP" altLang="en-US" sz="1050">
              <a:solidFill>
                <a:srgbClr val="0078D4"/>
              </a:solidFill>
              <a:latin typeface="Segoe UI" panose="020B0502040204020203" pitchFamily="34" charset="0"/>
              <a:ea typeface="Yu Gothic" panose="020B0400000000000000" pitchFamily="50" charset="-128"/>
            </a:endParaRPr>
          </a:p>
        </p:txBody>
      </p:sp>
      <p:cxnSp>
        <p:nvCxnSpPr>
          <p:cNvPr id="100" name="flow:api-logs:0">
            <a:extLst>
              <a:ext uri="{FF2B5EF4-FFF2-40B4-BE49-F238E27FC236}">
                <a16:creationId xmlns:a16="http://schemas.microsoft.com/office/drawing/2014/main" id="{9247CED7-E0D2-16FE-662A-B4860ADDAF2A}"/>
              </a:ext>
            </a:extLst>
          </p:cNvPr>
          <p:cNvCxnSpPr>
            <a:cxnSpLocks/>
            <a:stCxn id="56" idx="2"/>
          </p:cNvCxnSpPr>
          <p:nvPr/>
        </p:nvCxnSpPr>
        <p:spPr>
          <a:xfrm>
            <a:off x="13792200" y="8839200"/>
            <a:ext cx="0" cy="381000"/>
          </a:xfrm>
          <a:prstGeom prst="straightConnector1">
            <a:avLst/>
          </a:prstGeom>
          <a:ln w="17145">
            <a:solidFill>
              <a:srgbClr val="64748B"/>
            </a:solidFill>
            <a:prstDash val="dash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flow:api-logs:1">
            <a:extLst>
              <a:ext uri="{FF2B5EF4-FFF2-40B4-BE49-F238E27FC236}">
                <a16:creationId xmlns:a16="http://schemas.microsoft.com/office/drawing/2014/main" id="{16625766-83D6-1C99-8C32-1D31A5A01AC6}"/>
              </a:ext>
            </a:extLst>
          </p:cNvPr>
          <p:cNvCxnSpPr/>
          <p:nvPr/>
        </p:nvCxnSpPr>
        <p:spPr>
          <a:xfrm flipH="1">
            <a:off x="11277600" y="9220200"/>
            <a:ext cx="2514600" cy="0"/>
          </a:xfrm>
          <a:prstGeom prst="straightConnector1">
            <a:avLst/>
          </a:prstGeom>
          <a:ln w="17145">
            <a:solidFill>
              <a:srgbClr val="64748B"/>
            </a:solidFill>
            <a:prstDash val="dash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flow:api-logs:2">
            <a:extLst>
              <a:ext uri="{FF2B5EF4-FFF2-40B4-BE49-F238E27FC236}">
                <a16:creationId xmlns:a16="http://schemas.microsoft.com/office/drawing/2014/main" id="{51547647-F2A7-D1DF-6B52-2177C8E34437}"/>
              </a:ext>
            </a:extLst>
          </p:cNvPr>
          <p:cNvCxnSpPr/>
          <p:nvPr/>
        </p:nvCxnSpPr>
        <p:spPr>
          <a:xfrm flipV="1">
            <a:off x="11277600" y="8382000"/>
            <a:ext cx="0" cy="838200"/>
          </a:xfrm>
          <a:prstGeom prst="straightConnector1">
            <a:avLst/>
          </a:prstGeom>
          <a:ln w="17145">
            <a:solidFill>
              <a:srgbClr val="64748B"/>
            </a:solidFill>
            <a:prstDash val="dash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flow:api-logs:3">
            <a:extLst>
              <a:ext uri="{FF2B5EF4-FFF2-40B4-BE49-F238E27FC236}">
                <a16:creationId xmlns:a16="http://schemas.microsoft.com/office/drawing/2014/main" id="{ACFB3242-E38D-D4B1-892F-F9043C7665DA}"/>
              </a:ext>
            </a:extLst>
          </p:cNvPr>
          <p:cNvCxnSpPr>
            <a:cxnSpLocks/>
            <a:endCxn id="68" idx="3"/>
          </p:cNvCxnSpPr>
          <p:nvPr/>
        </p:nvCxnSpPr>
        <p:spPr>
          <a:xfrm flipH="1">
            <a:off x="10896600" y="8382000"/>
            <a:ext cx="381000" cy="0"/>
          </a:xfrm>
          <a:prstGeom prst="straightConnector1">
            <a:avLst/>
          </a:prstGeom>
          <a:ln w="17145">
            <a:solidFill>
              <a:srgbClr val="64748B"/>
            </a:solidFill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flow-label:api-logs">
            <a:extLst>
              <a:ext uri="{FF2B5EF4-FFF2-40B4-BE49-F238E27FC236}">
                <a16:creationId xmlns:a16="http://schemas.microsoft.com/office/drawing/2014/main" id="{04BFA54D-F60A-6944-EF45-1397E24E7296}"/>
              </a:ext>
            </a:extLst>
          </p:cNvPr>
          <p:cNvSpPr txBox="1"/>
          <p:nvPr/>
        </p:nvSpPr>
        <p:spPr>
          <a:xfrm>
            <a:off x="11734800" y="9105900"/>
            <a:ext cx="762000" cy="228600"/>
          </a:xfrm>
          <a:prstGeom prst="rect">
            <a:avLst/>
          </a:prstGeom>
          <a:solidFill>
            <a:srgbClr val="FFFFFF"/>
          </a:solidFill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kumimoji="1" lang="ja-JP" altLang="en-US" sz="1050">
                <a:solidFill>
                  <a:srgbClr val="64748B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環境ログ</a:t>
            </a:r>
          </a:p>
        </p:txBody>
      </p:sp>
      <p:cxnSp>
        <p:nvCxnSpPr>
          <p:cNvPr id="105" name="flow:toolbox-api:0">
            <a:extLst>
              <a:ext uri="{FF2B5EF4-FFF2-40B4-BE49-F238E27FC236}">
                <a16:creationId xmlns:a16="http://schemas.microsoft.com/office/drawing/2014/main" id="{F786124B-DF83-E90C-6C1F-08B8C783C297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7391400" y="6286500"/>
            <a:ext cx="1752600" cy="0"/>
          </a:xfrm>
          <a:prstGeom prst="straightConnector1">
            <a:avLst/>
          </a:prstGeom>
          <a:ln w="17145">
            <a:solidFill>
              <a:srgbClr val="0078D4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flow:toolbox-api:1">
            <a:extLst>
              <a:ext uri="{FF2B5EF4-FFF2-40B4-BE49-F238E27FC236}">
                <a16:creationId xmlns:a16="http://schemas.microsoft.com/office/drawing/2014/main" id="{27343FFF-41B7-B52A-ED9D-63D429B1405B}"/>
              </a:ext>
            </a:extLst>
          </p:cNvPr>
          <p:cNvCxnSpPr/>
          <p:nvPr/>
        </p:nvCxnSpPr>
        <p:spPr>
          <a:xfrm>
            <a:off x="9144000" y="6286500"/>
            <a:ext cx="0" cy="876300"/>
          </a:xfrm>
          <a:prstGeom prst="straightConnector1">
            <a:avLst/>
          </a:prstGeom>
          <a:ln w="17145">
            <a:solidFill>
              <a:srgbClr val="0078D4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flow:toolbox-api:2">
            <a:extLst>
              <a:ext uri="{FF2B5EF4-FFF2-40B4-BE49-F238E27FC236}">
                <a16:creationId xmlns:a16="http://schemas.microsoft.com/office/drawing/2014/main" id="{E48F0699-5A4D-6461-806E-EEB508E395FC}"/>
              </a:ext>
            </a:extLst>
          </p:cNvPr>
          <p:cNvCxnSpPr/>
          <p:nvPr/>
        </p:nvCxnSpPr>
        <p:spPr>
          <a:xfrm>
            <a:off x="9144000" y="7162800"/>
            <a:ext cx="1981200" cy="0"/>
          </a:xfrm>
          <a:prstGeom prst="straightConnector1">
            <a:avLst/>
          </a:prstGeom>
          <a:ln w="17145">
            <a:solidFill>
              <a:srgbClr val="0078D4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flow:toolbox-api:3">
            <a:extLst>
              <a:ext uri="{FF2B5EF4-FFF2-40B4-BE49-F238E27FC236}">
                <a16:creationId xmlns:a16="http://schemas.microsoft.com/office/drawing/2014/main" id="{40A2DB00-FD33-6755-90FB-9913942899E4}"/>
              </a:ext>
            </a:extLst>
          </p:cNvPr>
          <p:cNvCxnSpPr/>
          <p:nvPr/>
        </p:nvCxnSpPr>
        <p:spPr>
          <a:xfrm>
            <a:off x="11125200" y="7162800"/>
            <a:ext cx="0" cy="952500"/>
          </a:xfrm>
          <a:prstGeom prst="straightConnector1">
            <a:avLst/>
          </a:prstGeom>
          <a:ln w="17145">
            <a:solidFill>
              <a:srgbClr val="0078D4"/>
            </a:solidFill>
            <a:prstDash val="solid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flow:toolbox-api:4">
            <a:extLst>
              <a:ext uri="{FF2B5EF4-FFF2-40B4-BE49-F238E27FC236}">
                <a16:creationId xmlns:a16="http://schemas.microsoft.com/office/drawing/2014/main" id="{68D7A3FC-E02F-35CD-2A40-EBCDE110A185}"/>
              </a:ext>
            </a:extLst>
          </p:cNvPr>
          <p:cNvCxnSpPr>
            <a:cxnSpLocks/>
            <a:endCxn id="56" idx="1"/>
          </p:cNvCxnSpPr>
          <p:nvPr/>
        </p:nvCxnSpPr>
        <p:spPr>
          <a:xfrm>
            <a:off x="11125200" y="8115300"/>
            <a:ext cx="533400" cy="0"/>
          </a:xfrm>
          <a:prstGeom prst="straightConnector1">
            <a:avLst/>
          </a:prstGeom>
          <a:ln w="17145">
            <a:solidFill>
              <a:srgbClr val="0078D4"/>
            </a:solidFill>
            <a:prstDash val="solid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flow-label:toolbox-api">
            <a:extLst>
              <a:ext uri="{FF2B5EF4-FFF2-40B4-BE49-F238E27FC236}">
                <a16:creationId xmlns:a16="http://schemas.microsoft.com/office/drawing/2014/main" id="{1F2A25C0-B386-6FB6-2807-8DF8BB617DDB}"/>
              </a:ext>
            </a:extLst>
          </p:cNvPr>
          <p:cNvSpPr txBox="1"/>
          <p:nvPr/>
        </p:nvSpPr>
        <p:spPr>
          <a:xfrm>
            <a:off x="8763000" y="6858000"/>
            <a:ext cx="1905000" cy="228600"/>
          </a:xfrm>
          <a:prstGeom prst="rect">
            <a:avLst/>
          </a:prstGeom>
          <a:solidFill>
            <a:srgbClr val="FFFFFF"/>
          </a:solidFill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kumimoji="1" lang="en-US" altLang="ja-JP" sz="1050">
                <a:solidFill>
                  <a:srgbClr val="0078D4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OpenAPI / HTTPS</a:t>
            </a:r>
            <a:r>
              <a:rPr kumimoji="1" lang="ja-JP" altLang="en-US" sz="1050">
                <a:solidFill>
                  <a:srgbClr val="0078D4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（匿名）</a:t>
            </a:r>
          </a:p>
        </p:txBody>
      </p:sp>
      <p:cxnSp>
        <p:nvCxnSpPr>
          <p:cNvPr id="111" name="flow:agent-traces:0">
            <a:extLst>
              <a:ext uri="{FF2B5EF4-FFF2-40B4-BE49-F238E27FC236}">
                <a16:creationId xmlns:a16="http://schemas.microsoft.com/office/drawing/2014/main" id="{1B6FC5A5-112E-9ABE-D78F-02C7ADEE5DCC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5943600" y="4572000"/>
            <a:ext cx="0" cy="152400"/>
          </a:xfrm>
          <a:prstGeom prst="straightConnector1">
            <a:avLst/>
          </a:prstGeom>
          <a:ln w="17145">
            <a:solidFill>
              <a:srgbClr val="64748B"/>
            </a:solidFill>
            <a:prstDash val="dash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flow:agent-traces:1">
            <a:extLst>
              <a:ext uri="{FF2B5EF4-FFF2-40B4-BE49-F238E27FC236}">
                <a16:creationId xmlns:a16="http://schemas.microsoft.com/office/drawing/2014/main" id="{091132D6-A5A7-21F0-8EF6-6EFD1228D693}"/>
              </a:ext>
            </a:extLst>
          </p:cNvPr>
          <p:cNvCxnSpPr/>
          <p:nvPr/>
        </p:nvCxnSpPr>
        <p:spPr>
          <a:xfrm flipH="1">
            <a:off x="4267200" y="4724400"/>
            <a:ext cx="1676400" cy="0"/>
          </a:xfrm>
          <a:prstGeom prst="straightConnector1">
            <a:avLst/>
          </a:prstGeom>
          <a:ln w="17145">
            <a:solidFill>
              <a:srgbClr val="64748B"/>
            </a:solidFill>
            <a:prstDash val="dash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flow:agent-traces:2">
            <a:extLst>
              <a:ext uri="{FF2B5EF4-FFF2-40B4-BE49-F238E27FC236}">
                <a16:creationId xmlns:a16="http://schemas.microsoft.com/office/drawing/2014/main" id="{77676384-8EA0-6E3B-2687-85C52D5A2583}"/>
              </a:ext>
            </a:extLst>
          </p:cNvPr>
          <p:cNvCxnSpPr/>
          <p:nvPr/>
        </p:nvCxnSpPr>
        <p:spPr>
          <a:xfrm>
            <a:off x="4267200" y="4724400"/>
            <a:ext cx="0" cy="3657600"/>
          </a:xfrm>
          <a:prstGeom prst="straightConnector1">
            <a:avLst/>
          </a:prstGeom>
          <a:ln w="17145">
            <a:solidFill>
              <a:srgbClr val="64748B"/>
            </a:solidFill>
            <a:prstDash val="dash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flow:agent-traces:3">
            <a:extLst>
              <a:ext uri="{FF2B5EF4-FFF2-40B4-BE49-F238E27FC236}">
                <a16:creationId xmlns:a16="http://schemas.microsoft.com/office/drawing/2014/main" id="{2469AB8A-3753-AE6F-03D8-A985ABA8DC19}"/>
              </a:ext>
            </a:extLst>
          </p:cNvPr>
          <p:cNvCxnSpPr>
            <a:cxnSpLocks/>
            <a:endCxn id="62" idx="1"/>
          </p:cNvCxnSpPr>
          <p:nvPr/>
        </p:nvCxnSpPr>
        <p:spPr>
          <a:xfrm>
            <a:off x="4267200" y="8382000"/>
            <a:ext cx="762000" cy="0"/>
          </a:xfrm>
          <a:prstGeom prst="straightConnector1">
            <a:avLst/>
          </a:prstGeom>
          <a:ln w="17145">
            <a:solidFill>
              <a:srgbClr val="64748B"/>
            </a:solidFill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flow-label:agent-traces">
            <a:extLst>
              <a:ext uri="{FF2B5EF4-FFF2-40B4-BE49-F238E27FC236}">
                <a16:creationId xmlns:a16="http://schemas.microsoft.com/office/drawing/2014/main" id="{252BE145-7593-9F07-AFF7-4D9B1D352997}"/>
              </a:ext>
            </a:extLst>
          </p:cNvPr>
          <p:cNvSpPr txBox="1"/>
          <p:nvPr/>
        </p:nvSpPr>
        <p:spPr>
          <a:xfrm>
            <a:off x="4343400" y="7467600"/>
            <a:ext cx="762000" cy="228600"/>
          </a:xfrm>
          <a:prstGeom prst="rect">
            <a:avLst/>
          </a:prstGeom>
          <a:solidFill>
            <a:srgbClr val="FFFFFF"/>
          </a:solidFill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kumimoji="1" lang="ja-JP" altLang="en-US" sz="1050">
                <a:solidFill>
                  <a:srgbClr val="64748B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トレース</a:t>
            </a:r>
          </a:p>
        </p:txBody>
      </p:sp>
      <p:cxnSp>
        <p:nvCxnSpPr>
          <p:cNvPr id="116" name="flow:trace-store:0">
            <a:extLst>
              <a:ext uri="{FF2B5EF4-FFF2-40B4-BE49-F238E27FC236}">
                <a16:creationId xmlns:a16="http://schemas.microsoft.com/office/drawing/2014/main" id="{D5DA3B6E-2AD0-E2FA-1797-48DE081C000B}"/>
              </a:ext>
            </a:extLst>
          </p:cNvPr>
          <p:cNvCxnSpPr>
            <a:cxnSpLocks/>
            <a:stCxn id="62" idx="3"/>
            <a:endCxn id="68" idx="1"/>
          </p:cNvCxnSpPr>
          <p:nvPr/>
        </p:nvCxnSpPr>
        <p:spPr>
          <a:xfrm>
            <a:off x="7467600" y="8382000"/>
            <a:ext cx="990600" cy="0"/>
          </a:xfrm>
          <a:prstGeom prst="straightConnector1">
            <a:avLst/>
          </a:prstGeom>
          <a:ln w="17145">
            <a:solidFill>
              <a:srgbClr val="64748B"/>
            </a:solidFill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flow-label:trace-store">
            <a:extLst>
              <a:ext uri="{FF2B5EF4-FFF2-40B4-BE49-F238E27FC236}">
                <a16:creationId xmlns:a16="http://schemas.microsoft.com/office/drawing/2014/main" id="{D04F365F-744F-1EAA-A931-6C546013445D}"/>
              </a:ext>
            </a:extLst>
          </p:cNvPr>
          <p:cNvSpPr txBox="1"/>
          <p:nvPr/>
        </p:nvSpPr>
        <p:spPr>
          <a:xfrm>
            <a:off x="7581900" y="8077200"/>
            <a:ext cx="762000" cy="228600"/>
          </a:xfrm>
          <a:prstGeom prst="rect">
            <a:avLst/>
          </a:prstGeom>
          <a:solidFill>
            <a:srgbClr val="FFFFFF"/>
          </a:solidFill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kumimoji="1" lang="ja-JP" altLang="en-US" sz="1050">
                <a:solidFill>
                  <a:srgbClr val="64748B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保存先</a:t>
            </a:r>
          </a:p>
        </p:txBody>
      </p:sp>
      <p:sp>
        <p:nvSpPr>
          <p:cNvPr id="118" name="note:model-scope">
            <a:extLst>
              <a:ext uri="{FF2B5EF4-FFF2-40B4-BE49-F238E27FC236}">
                <a16:creationId xmlns:a16="http://schemas.microsoft.com/office/drawing/2014/main" id="{C7AA9D50-D1FF-5FDC-C40C-0AE2738C8015}"/>
              </a:ext>
            </a:extLst>
          </p:cNvPr>
          <p:cNvSpPr txBox="1"/>
          <p:nvPr/>
        </p:nvSpPr>
        <p:spPr>
          <a:xfrm>
            <a:off x="8305800" y="5257800"/>
            <a:ext cx="2743200" cy="457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kumimoji="1" lang="ja-JP" altLang="en-US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モデルは </a:t>
            </a:r>
            <a:r>
              <a:rPr kumimoji="1" lang="en-US" altLang="ja-JP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account </a:t>
            </a:r>
            <a:r>
              <a:rPr kumimoji="1" lang="ja-JP" altLang="en-US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の子。
</a:t>
            </a:r>
            <a:r>
              <a:rPr kumimoji="1" lang="en-US" altLang="ja-JP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Project </a:t>
            </a:r>
            <a:r>
              <a:rPr kumimoji="1" lang="ja-JP" altLang="en-US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の子ではありません。</a:t>
            </a:r>
          </a:p>
        </p:txBody>
      </p:sp>
      <p:sp>
        <p:nvSpPr>
          <p:cNvPr id="119" name="note:global-scope">
            <a:extLst>
              <a:ext uri="{FF2B5EF4-FFF2-40B4-BE49-F238E27FC236}">
                <a16:creationId xmlns:a16="http://schemas.microsoft.com/office/drawing/2014/main" id="{E30B45FC-F431-5556-3504-5F32AAE648A3}"/>
              </a:ext>
            </a:extLst>
          </p:cNvPr>
          <p:cNvSpPr txBox="1"/>
          <p:nvPr/>
        </p:nvSpPr>
        <p:spPr>
          <a:xfrm>
            <a:off x="8382000" y="5753100"/>
            <a:ext cx="2667000" cy="457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kumimoji="1" lang="en-US" altLang="ja-JP" sz="1050">
                <a:solidFill>
                  <a:srgbClr val="64748B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GlobalStandard:
</a:t>
            </a:r>
            <a:r>
              <a:rPr kumimoji="1" lang="ja-JP" altLang="en-US" sz="1050">
                <a:solidFill>
                  <a:srgbClr val="64748B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推論は </a:t>
            </a:r>
            <a:r>
              <a:rPr kumimoji="1" lang="en-US" altLang="ja-JP" sz="1050">
                <a:solidFill>
                  <a:srgbClr val="64748B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Japan East </a:t>
            </a:r>
            <a:r>
              <a:rPr kumimoji="1" lang="ja-JP" altLang="en-US" sz="1050">
                <a:solidFill>
                  <a:srgbClr val="64748B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に限定しない</a:t>
            </a:r>
          </a:p>
        </p:txBody>
      </p:sp>
      <p:sp>
        <p:nvSpPr>
          <p:cNvPr id="120" name="note:client-scope">
            <a:extLst>
              <a:ext uri="{FF2B5EF4-FFF2-40B4-BE49-F238E27FC236}">
                <a16:creationId xmlns:a16="http://schemas.microsoft.com/office/drawing/2014/main" id="{892365C3-DBF0-DB6E-9F9F-C082FCA35077}"/>
              </a:ext>
            </a:extLst>
          </p:cNvPr>
          <p:cNvSpPr txBox="1"/>
          <p:nvPr/>
        </p:nvSpPr>
        <p:spPr>
          <a:xfrm>
            <a:off x="685800" y="7162800"/>
            <a:ext cx="2362200" cy="8382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kumimoji="1" lang="ja-JP" altLang="en-US" sz="1125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環境作成</a:t>
            </a:r>
            <a:r>
              <a:rPr kumimoji="1" lang="en-US" altLang="ja-JP" sz="1125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: Azure Portal
Agent </a:t>
            </a:r>
            <a:r>
              <a:rPr kumimoji="1" lang="ja-JP" altLang="en-US" sz="1125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設定</a:t>
            </a:r>
            <a:r>
              <a:rPr kumimoji="1" lang="en-US" altLang="ja-JP" sz="1125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: Foundry Portal
</a:t>
            </a:r>
            <a:r>
              <a:rPr kumimoji="1" lang="ja-JP" altLang="en-US" sz="1125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デプロイ手順は </a:t>
            </a:r>
            <a:r>
              <a:rPr kumimoji="1" lang="en-US" altLang="ja-JP" sz="1125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2 </a:t>
            </a:r>
            <a:r>
              <a:rPr kumimoji="1" lang="ja-JP" altLang="en-US" sz="1125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枚目</a:t>
            </a:r>
          </a:p>
        </p:txBody>
      </p:sp>
      <p:sp>
        <p:nvSpPr>
          <p:cNvPr id="121" name="note:search-switch">
            <a:extLst>
              <a:ext uri="{FF2B5EF4-FFF2-40B4-BE49-F238E27FC236}">
                <a16:creationId xmlns:a16="http://schemas.microsoft.com/office/drawing/2014/main" id="{1050FA6D-E7FE-221F-66D2-E44DF6911752}"/>
              </a:ext>
            </a:extLst>
          </p:cNvPr>
          <p:cNvSpPr txBox="1"/>
          <p:nvPr/>
        </p:nvSpPr>
        <p:spPr>
          <a:xfrm>
            <a:off x="457200" y="9601200"/>
            <a:ext cx="8153400" cy="5334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kumimoji="1" lang="en-US" altLang="ja-JP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Lab 2 </a:t>
            </a:r>
            <a:r>
              <a:rPr kumimoji="1" lang="ja-JP" altLang="en-US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と </a:t>
            </a:r>
            <a:r>
              <a:rPr kumimoji="1" lang="en-US" altLang="ja-JP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Lab 3 </a:t>
            </a:r>
            <a:r>
              <a:rPr kumimoji="1" lang="ja-JP" altLang="en-US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以降の検索経路は切り替えです。同時有効ではありません。
</a:t>
            </a:r>
            <a:r>
              <a:rPr kumimoji="1" lang="en-US" altLang="ja-JP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Foundry IQ </a:t>
            </a:r>
            <a:r>
              <a:rPr kumimoji="1" lang="ja-JP" altLang="en-US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は同じ </a:t>
            </a:r>
            <a:r>
              <a:rPr kumimoji="1" lang="en-US" altLang="ja-JP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Azure AI Search </a:t>
            </a:r>
            <a:r>
              <a:rPr kumimoji="1" lang="ja-JP" altLang="en-US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上の論理機能。独立した検索サービスではありません。</a:t>
            </a:r>
          </a:p>
        </p:txBody>
      </p:sp>
      <p:sp>
        <p:nvSpPr>
          <p:cNvPr id="122" name="note:api-boundary">
            <a:extLst>
              <a:ext uri="{FF2B5EF4-FFF2-40B4-BE49-F238E27FC236}">
                <a16:creationId xmlns:a16="http://schemas.microsoft.com/office/drawing/2014/main" id="{870653B4-063B-30B5-2577-2A496BF736D3}"/>
              </a:ext>
            </a:extLst>
          </p:cNvPr>
          <p:cNvSpPr txBox="1"/>
          <p:nvPr/>
        </p:nvSpPr>
        <p:spPr>
          <a:xfrm>
            <a:off x="8991600" y="9601200"/>
            <a:ext cx="7696200" cy="5334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kumimoji="1" lang="en-US" altLang="ja-JP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API </a:t>
            </a:r>
            <a:r>
              <a:rPr kumimoji="1" lang="ja-JP" altLang="en-US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は </a:t>
            </a:r>
            <a:r>
              <a:rPr kumimoji="1" lang="en-US" altLang="ja-JP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Toolbox </a:t>
            </a:r>
            <a:r>
              <a:rPr kumimoji="1" lang="ja-JP" altLang="en-US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経由で呼び出します。匿名認証は </a:t>
            </a:r>
            <a:r>
              <a:rPr kumimoji="1" lang="en-US" altLang="ja-JP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Toolbox → API </a:t>
            </a:r>
            <a:r>
              <a:rPr kumimoji="1" lang="ja-JP" altLang="en-US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の区間だけです。
</a:t>
            </a:r>
            <a:r>
              <a:rPr kumimoji="1" lang="en-US" altLang="ja-JP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Tool Search</a:t>
            </a:r>
            <a:r>
              <a:rPr kumimoji="1" lang="ja-JP" altLang="en-US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・</a:t>
            </a:r>
            <a:r>
              <a:rPr kumimoji="1" lang="en-US" altLang="ja-JP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Skills</a:t>
            </a:r>
            <a:r>
              <a:rPr kumimoji="1" lang="ja-JP" altLang="en-US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・組み込みツールの内部処理、評価・最適化、</a:t>
            </a:r>
            <a:r>
              <a:rPr kumimoji="1" lang="en-US" altLang="ja-JP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RBAC </a:t>
            </a:r>
            <a:r>
              <a:rPr kumimoji="1" lang="ja-JP" altLang="en-US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の全定義は省略。</a:t>
            </a:r>
          </a:p>
        </p:txBody>
      </p:sp>
      <p:sp>
        <p:nvSpPr>
          <p:cNvPr id="123" name="title">
            <a:extLst>
              <a:ext uri="{FF2B5EF4-FFF2-40B4-BE49-F238E27FC236}">
                <a16:creationId xmlns:a16="http://schemas.microsoft.com/office/drawing/2014/main" id="{3515C19B-AD1D-A542-0745-62A02D7EC61E}"/>
              </a:ext>
            </a:extLst>
          </p:cNvPr>
          <p:cNvSpPr txBox="1"/>
          <p:nvPr/>
        </p:nvSpPr>
        <p:spPr>
          <a:xfrm>
            <a:off x="457200" y="238125"/>
            <a:ext cx="16230600" cy="42862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kumimoji="1" lang="en-US" altLang="ja-JP" sz="2400" b="1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Foundry Agent Service </a:t>
            </a:r>
            <a:r>
              <a:rPr kumimoji="1" lang="ja-JP" altLang="en-US" sz="2400" b="1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と検索・業務 </a:t>
            </a:r>
            <a:r>
              <a:rPr kumimoji="1" lang="en-US" altLang="ja-JP" sz="2400" b="1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API </a:t>
            </a:r>
            <a:r>
              <a:rPr kumimoji="1" lang="ja-JP" altLang="en-US" sz="2400" b="1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の接続</a:t>
            </a:r>
          </a:p>
        </p:txBody>
      </p:sp>
      <p:sp>
        <p:nvSpPr>
          <p:cNvPr id="124" name="subtitle">
            <a:extLst>
              <a:ext uri="{FF2B5EF4-FFF2-40B4-BE49-F238E27FC236}">
                <a16:creationId xmlns:a16="http://schemas.microsoft.com/office/drawing/2014/main" id="{A23CC26B-0B31-B9AA-2A06-E88FC0C7028E}"/>
              </a:ext>
            </a:extLst>
          </p:cNvPr>
          <p:cNvSpPr txBox="1"/>
          <p:nvPr/>
        </p:nvSpPr>
        <p:spPr>
          <a:xfrm>
            <a:off x="457200" y="733425"/>
            <a:ext cx="16230600" cy="3048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kumimoji="1" lang="en-US" altLang="ja-JP" sz="1200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1 / 2  </a:t>
            </a:r>
            <a:r>
              <a:rPr kumimoji="1" lang="ja-JP" altLang="en-US" sz="1200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基盤</a:t>
            </a:r>
            <a:r>
              <a:rPr kumimoji="1" lang="en-US" altLang="ja-JP" sz="1200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: </a:t>
            </a:r>
            <a:r>
              <a:rPr kumimoji="1" lang="ja-JP" altLang="en-US" sz="1200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カスタムテンプレート </a:t>
            </a:r>
            <a:r>
              <a:rPr kumimoji="1" lang="en-US" altLang="ja-JP" sz="1200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| Agent</a:t>
            </a:r>
            <a:r>
              <a:rPr kumimoji="1" lang="ja-JP" altLang="en-US" sz="1200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・</a:t>
            </a:r>
            <a:r>
              <a:rPr kumimoji="1" lang="en-US" altLang="ja-JP" sz="1200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Foundry IQ</a:t>
            </a:r>
            <a:r>
              <a:rPr kumimoji="1" lang="ja-JP" altLang="en-US" sz="1200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・</a:t>
            </a:r>
            <a:r>
              <a:rPr kumimoji="1" lang="en-US" altLang="ja-JP" sz="1200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Toolbox: Labs 2–4 </a:t>
            </a:r>
            <a:r>
              <a:rPr kumimoji="1" lang="ja-JP" altLang="en-US" sz="1200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で作成 </a:t>
            </a:r>
            <a:r>
              <a:rPr kumimoji="1" lang="en-US" altLang="ja-JP" sz="1200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| Basic Agent Setup / </a:t>
            </a:r>
            <a:r>
              <a:rPr kumimoji="1" lang="ja-JP" altLang="en-US" sz="1200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公開エンドポイント</a:t>
            </a:r>
          </a:p>
        </p:txBody>
      </p:sp>
      <p:cxnSp>
        <p:nvCxnSpPr>
          <p:cNvPr id="125" name="legend:data">
            <a:extLst>
              <a:ext uri="{FF2B5EF4-FFF2-40B4-BE49-F238E27FC236}">
                <a16:creationId xmlns:a16="http://schemas.microsoft.com/office/drawing/2014/main" id="{E33FFFE7-2231-8A7E-9F75-0C42E4651F33}"/>
              </a:ext>
            </a:extLst>
          </p:cNvPr>
          <p:cNvCxnSpPr/>
          <p:nvPr/>
        </p:nvCxnSpPr>
        <p:spPr>
          <a:xfrm>
            <a:off x="457200" y="10382250"/>
            <a:ext cx="381000" cy="0"/>
          </a:xfrm>
          <a:prstGeom prst="straightConnector1">
            <a:avLst/>
          </a:prstGeom>
          <a:ln w="17145">
            <a:solidFill>
              <a:srgbClr val="0078D4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legend-label:data">
            <a:extLst>
              <a:ext uri="{FF2B5EF4-FFF2-40B4-BE49-F238E27FC236}">
                <a16:creationId xmlns:a16="http://schemas.microsoft.com/office/drawing/2014/main" id="{3FAF2283-B400-E452-096D-9B9C886B0634}"/>
              </a:ext>
            </a:extLst>
          </p:cNvPr>
          <p:cNvSpPr txBox="1"/>
          <p:nvPr/>
        </p:nvSpPr>
        <p:spPr>
          <a:xfrm>
            <a:off x="952500" y="10267950"/>
            <a:ext cx="133350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kumimoji="1" lang="ja-JP" altLang="en-US" sz="975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データ通信</a:t>
            </a:r>
          </a:p>
        </p:txBody>
      </p:sp>
      <p:cxnSp>
        <p:nvCxnSpPr>
          <p:cNvPr id="127" name="legend:management">
            <a:extLst>
              <a:ext uri="{FF2B5EF4-FFF2-40B4-BE49-F238E27FC236}">
                <a16:creationId xmlns:a16="http://schemas.microsoft.com/office/drawing/2014/main" id="{5ABB9F9B-5852-B3CF-14C3-C2216DE3D13C}"/>
              </a:ext>
            </a:extLst>
          </p:cNvPr>
          <p:cNvCxnSpPr/>
          <p:nvPr/>
        </p:nvCxnSpPr>
        <p:spPr>
          <a:xfrm>
            <a:off x="2533650" y="10382250"/>
            <a:ext cx="381000" cy="0"/>
          </a:xfrm>
          <a:prstGeom prst="straightConnector1">
            <a:avLst/>
          </a:prstGeom>
          <a:ln w="17145">
            <a:solidFill>
              <a:srgbClr val="64748B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legend-label:management">
            <a:extLst>
              <a:ext uri="{FF2B5EF4-FFF2-40B4-BE49-F238E27FC236}">
                <a16:creationId xmlns:a16="http://schemas.microsoft.com/office/drawing/2014/main" id="{B5185220-8BEC-F4E4-CB3F-EA4B7FDEC2DD}"/>
              </a:ext>
            </a:extLst>
          </p:cNvPr>
          <p:cNvSpPr txBox="1"/>
          <p:nvPr/>
        </p:nvSpPr>
        <p:spPr>
          <a:xfrm>
            <a:off x="3028950" y="10267950"/>
            <a:ext cx="133350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kumimoji="1" lang="ja-JP" altLang="en-US" sz="975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監視・管理</a:t>
            </a:r>
          </a:p>
        </p:txBody>
      </p:sp>
      <p:sp>
        <p:nvSpPr>
          <p:cNvPr id="129" name="footer">
            <a:extLst>
              <a:ext uri="{FF2B5EF4-FFF2-40B4-BE49-F238E27FC236}">
                <a16:creationId xmlns:a16="http://schemas.microsoft.com/office/drawing/2014/main" id="{021AA216-7A16-8D19-A374-FEDF7968CC38}"/>
              </a:ext>
            </a:extLst>
          </p:cNvPr>
          <p:cNvSpPr txBox="1"/>
          <p:nvPr/>
        </p:nvSpPr>
        <p:spPr>
          <a:xfrm>
            <a:off x="457200" y="10658475"/>
            <a:ext cx="16230600" cy="24765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kumimoji="1" lang="ja-JP" altLang="en-US" sz="900">
                <a:solidFill>
                  <a:srgbClr val="64748B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ソース確認</a:t>
            </a:r>
            <a:r>
              <a:rPr kumimoji="1" lang="en-US" altLang="ja-JP" sz="900">
                <a:solidFill>
                  <a:srgbClr val="64748B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: 2026-09-19 | </a:t>
            </a:r>
            <a:r>
              <a:rPr kumimoji="1" lang="ja-JP" altLang="en-US" sz="900">
                <a:solidFill>
                  <a:srgbClr val="64748B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実行中デプロイの成否・</a:t>
            </a:r>
            <a:r>
              <a:rPr kumimoji="1" lang="en-US" altLang="ja-JP" sz="900">
                <a:solidFill>
                  <a:srgbClr val="64748B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Portal </a:t>
            </a:r>
            <a:r>
              <a:rPr kumimoji="1" lang="ja-JP" altLang="en-US" sz="900">
                <a:solidFill>
                  <a:srgbClr val="64748B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操作の通し実行は未確認。通信の応答は省略。根拠</a:t>
            </a:r>
            <a:r>
              <a:rPr kumimoji="1" lang="en-US" altLang="ja-JP" sz="900">
                <a:solidFill>
                  <a:srgbClr val="64748B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: docs/development/architecture.md</a:t>
            </a:r>
            <a:endParaRPr kumimoji="1" lang="ja-JP" altLang="en-US" sz="900">
              <a:solidFill>
                <a:srgbClr val="64748B"/>
              </a:solidFill>
              <a:latin typeface="Segoe UI" panose="020B0502040204020203" pitchFamily="34" charset="0"/>
              <a:ea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61584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undary:participant-actions" descr="boundary;kind=external;parent=">
            <a:extLst>
              <a:ext uri="{FF2B5EF4-FFF2-40B4-BE49-F238E27FC236}">
                <a16:creationId xmlns:a16="http://schemas.microsoft.com/office/drawing/2014/main" id="{45B08262-0919-F238-5717-C338C0928415}"/>
              </a:ext>
            </a:extLst>
          </p:cNvPr>
          <p:cNvSpPr/>
          <p:nvPr/>
        </p:nvSpPr>
        <p:spPr>
          <a:xfrm>
            <a:off x="457200" y="1371600"/>
            <a:ext cx="16230600" cy="2514600"/>
          </a:xfrm>
          <a:prstGeom prst="rect">
            <a:avLst/>
          </a:prstGeom>
          <a:solidFill>
            <a:srgbClr val="F8FAFC"/>
          </a:solidFill>
          <a:ln w="10477">
            <a:solidFill>
              <a:srgbClr val="94A3B8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boundary-label:participant-actions">
            <a:extLst>
              <a:ext uri="{FF2B5EF4-FFF2-40B4-BE49-F238E27FC236}">
                <a16:creationId xmlns:a16="http://schemas.microsoft.com/office/drawing/2014/main" id="{23C05852-B6AA-AA72-15A9-AC52D4ACA18E}"/>
              </a:ext>
            </a:extLst>
          </p:cNvPr>
          <p:cNvSpPr txBox="1"/>
          <p:nvPr/>
        </p:nvSpPr>
        <p:spPr>
          <a:xfrm>
            <a:off x="609600" y="1447800"/>
            <a:ext cx="15925800" cy="2667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kumimoji="1" lang="en-US" altLang="ja-JP" sz="1200" b="1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Azure Portal </a:t>
            </a:r>
            <a:r>
              <a:rPr kumimoji="1" lang="ja-JP" altLang="en-US" sz="1200" b="1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から参加者にて実行</a:t>
            </a:r>
          </a:p>
        </p:txBody>
      </p:sp>
      <p:sp>
        <p:nvSpPr>
          <p:cNvPr id="4" name="boundary:template-internal" descr="boundary;kind=logical;parent=">
            <a:extLst>
              <a:ext uri="{FF2B5EF4-FFF2-40B4-BE49-F238E27FC236}">
                <a16:creationId xmlns:a16="http://schemas.microsoft.com/office/drawing/2014/main" id="{27247AB3-F776-14B6-4BC2-1D7FC157340C}"/>
              </a:ext>
            </a:extLst>
          </p:cNvPr>
          <p:cNvSpPr/>
          <p:nvPr/>
        </p:nvSpPr>
        <p:spPr>
          <a:xfrm>
            <a:off x="457200" y="4495800"/>
            <a:ext cx="16230600" cy="5181600"/>
          </a:xfrm>
          <a:prstGeom prst="rect">
            <a:avLst/>
          </a:prstGeom>
          <a:solidFill>
            <a:srgbClr val="FAF8FF"/>
          </a:solidFill>
          <a:ln w="10477">
            <a:solidFill>
              <a:srgbClr val="B9A5D8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boundary-label:template-internal">
            <a:extLst>
              <a:ext uri="{FF2B5EF4-FFF2-40B4-BE49-F238E27FC236}">
                <a16:creationId xmlns:a16="http://schemas.microsoft.com/office/drawing/2014/main" id="{FAC9FD33-EA0C-ACDC-84D3-A3C5FD8846C1}"/>
              </a:ext>
            </a:extLst>
          </p:cNvPr>
          <p:cNvSpPr txBox="1"/>
          <p:nvPr/>
        </p:nvSpPr>
        <p:spPr>
          <a:xfrm>
            <a:off x="609600" y="4572000"/>
            <a:ext cx="15925800" cy="2667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kumimoji="1" lang="ja-JP" altLang="en-US" sz="1200" b="1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カスタムテンプレートの内部処理</a:t>
            </a:r>
          </a:p>
        </p:txBody>
      </p:sp>
      <p:grpSp>
        <p:nvGrpSpPr>
          <p:cNvPr id="11" name="service:create-rg" descr="service;parent=participant-actions">
            <a:extLst>
              <a:ext uri="{FF2B5EF4-FFF2-40B4-BE49-F238E27FC236}">
                <a16:creationId xmlns:a16="http://schemas.microsoft.com/office/drawing/2014/main" id="{B389D9F1-FFF8-3E9F-06E5-9A93468508D9}"/>
              </a:ext>
            </a:extLst>
          </p:cNvPr>
          <p:cNvGrpSpPr/>
          <p:nvPr/>
        </p:nvGrpSpPr>
        <p:grpSpPr>
          <a:xfrm>
            <a:off x="685800" y="2057400"/>
            <a:ext cx="2743200" cy="1524000"/>
            <a:chOff x="685800" y="2057400"/>
            <a:chExt cx="2743200" cy="1524000"/>
          </a:xfrm>
        </p:grpSpPr>
        <p:sp>
          <p:nvSpPr>
            <p:cNvPr id="6" name="service-anchor:create-rg">
              <a:extLst>
                <a:ext uri="{FF2B5EF4-FFF2-40B4-BE49-F238E27FC236}">
                  <a16:creationId xmlns:a16="http://schemas.microsoft.com/office/drawing/2014/main" id="{50E7B982-4E30-EDB6-34D8-53C83491BADD}"/>
                </a:ext>
              </a:extLst>
            </p:cNvPr>
            <p:cNvSpPr/>
            <p:nvPr/>
          </p:nvSpPr>
          <p:spPr>
            <a:xfrm>
              <a:off x="685800" y="2057400"/>
              <a:ext cx="2743200" cy="1524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8" name="official-icon:create-rg" descr="① 専用 RG を手動作成">
              <a:extLst>
                <a:ext uri="{FF2B5EF4-FFF2-40B4-BE49-F238E27FC236}">
                  <a16:creationId xmlns:a16="http://schemas.microsoft.com/office/drawing/2014/main" id="{B6390A23-1FF3-7E34-77BD-C1A0EED376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28800" y="2057400"/>
              <a:ext cx="457200" cy="457200"/>
            </a:xfrm>
            <a:prstGeom prst="rect">
              <a:avLst/>
            </a:prstGeom>
          </p:spPr>
        </p:pic>
        <p:sp>
          <p:nvSpPr>
            <p:cNvPr id="9" name="service-label:create-rg">
              <a:extLst>
                <a:ext uri="{FF2B5EF4-FFF2-40B4-BE49-F238E27FC236}">
                  <a16:creationId xmlns:a16="http://schemas.microsoft.com/office/drawing/2014/main" id="{A407CC03-4CCF-3A37-D1BA-0E9BEEA607C7}"/>
                </a:ext>
              </a:extLst>
            </p:cNvPr>
            <p:cNvSpPr txBox="1"/>
            <p:nvPr/>
          </p:nvSpPr>
          <p:spPr>
            <a:xfrm>
              <a:off x="685800" y="2571750"/>
              <a:ext cx="27432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ja-JP" altLang="en-US" sz="1350">
                  <a:solidFill>
                    <a:srgbClr val="172B4D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① 専用 </a:t>
              </a:r>
              <a:r>
                <a:rPr kumimoji="1" lang="en-US" altLang="ja-JP" sz="1350">
                  <a:solidFill>
                    <a:srgbClr val="172B4D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RG </a:t>
              </a:r>
              <a:r>
                <a:rPr kumimoji="1" lang="ja-JP" altLang="en-US" sz="1350">
                  <a:solidFill>
                    <a:srgbClr val="172B4D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を手動作成</a:t>
              </a:r>
            </a:p>
          </p:txBody>
        </p:sp>
        <p:sp>
          <p:nvSpPr>
            <p:cNvPr id="10" name="service-detail:create-rg">
              <a:extLst>
                <a:ext uri="{FF2B5EF4-FFF2-40B4-BE49-F238E27FC236}">
                  <a16:creationId xmlns:a16="http://schemas.microsoft.com/office/drawing/2014/main" id="{2C0F8A85-2F3F-A8DA-FD81-8B76DBDC7B85}"/>
                </a:ext>
              </a:extLst>
            </p:cNvPr>
            <p:cNvSpPr txBox="1"/>
            <p:nvPr/>
          </p:nvSpPr>
          <p:spPr>
            <a:xfrm>
              <a:off x="685800" y="2828925"/>
              <a:ext cx="2743200" cy="7524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Resource groups &gt; Create
Japan East / </a:t>
              </a:r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他の用途と分離</a:t>
              </a:r>
            </a:p>
          </p:txBody>
        </p:sp>
      </p:grpSp>
      <p:grpSp>
        <p:nvGrpSpPr>
          <p:cNvPr id="17" name="service:load-template" descr="service;parent=participant-actions">
            <a:extLst>
              <a:ext uri="{FF2B5EF4-FFF2-40B4-BE49-F238E27FC236}">
                <a16:creationId xmlns:a16="http://schemas.microsoft.com/office/drawing/2014/main" id="{F2C432DA-249B-61EC-E0BE-63222ED1299B}"/>
              </a:ext>
            </a:extLst>
          </p:cNvPr>
          <p:cNvGrpSpPr/>
          <p:nvPr/>
        </p:nvGrpSpPr>
        <p:grpSpPr>
          <a:xfrm>
            <a:off x="4724400" y="2057400"/>
            <a:ext cx="2743200" cy="1524000"/>
            <a:chOff x="4724400" y="2057400"/>
            <a:chExt cx="2743200" cy="1524000"/>
          </a:xfrm>
        </p:grpSpPr>
        <p:sp>
          <p:nvSpPr>
            <p:cNvPr id="12" name="service-anchor:load-template">
              <a:extLst>
                <a:ext uri="{FF2B5EF4-FFF2-40B4-BE49-F238E27FC236}">
                  <a16:creationId xmlns:a16="http://schemas.microsoft.com/office/drawing/2014/main" id="{C21B9AB3-335F-EC5A-B079-0D83130D9006}"/>
                </a:ext>
              </a:extLst>
            </p:cNvPr>
            <p:cNvSpPr/>
            <p:nvPr/>
          </p:nvSpPr>
          <p:spPr>
            <a:xfrm>
              <a:off x="4724400" y="2057400"/>
              <a:ext cx="2743200" cy="1524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4" name="official-icon:load-template" descr="② テンプレートを読み込み">
              <a:extLst>
                <a:ext uri="{FF2B5EF4-FFF2-40B4-BE49-F238E27FC236}">
                  <a16:creationId xmlns:a16="http://schemas.microsoft.com/office/drawing/2014/main" id="{FE868860-3C2C-79AB-28A4-606B4F65B1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867400" y="2057400"/>
              <a:ext cx="457200" cy="457200"/>
            </a:xfrm>
            <a:prstGeom prst="rect">
              <a:avLst/>
            </a:prstGeom>
          </p:spPr>
        </p:pic>
        <p:sp>
          <p:nvSpPr>
            <p:cNvPr id="15" name="service-label:load-template">
              <a:extLst>
                <a:ext uri="{FF2B5EF4-FFF2-40B4-BE49-F238E27FC236}">
                  <a16:creationId xmlns:a16="http://schemas.microsoft.com/office/drawing/2014/main" id="{A0FBD776-946E-3363-5CA9-A69DFBA2BBA8}"/>
                </a:ext>
              </a:extLst>
            </p:cNvPr>
            <p:cNvSpPr txBox="1"/>
            <p:nvPr/>
          </p:nvSpPr>
          <p:spPr>
            <a:xfrm>
              <a:off x="4724400" y="2571750"/>
              <a:ext cx="27432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ja-JP" altLang="en-US" sz="1350">
                  <a:solidFill>
                    <a:srgbClr val="172B4D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② テンプレートを読み込み</a:t>
              </a:r>
            </a:p>
          </p:txBody>
        </p:sp>
        <p:sp>
          <p:nvSpPr>
            <p:cNvPr id="16" name="service-detail:load-template">
              <a:extLst>
                <a:ext uri="{FF2B5EF4-FFF2-40B4-BE49-F238E27FC236}">
                  <a16:creationId xmlns:a16="http://schemas.microsoft.com/office/drawing/2014/main" id="{99F8889D-51AA-A99F-F3CE-8ECB75DA7E4E}"/>
                </a:ext>
              </a:extLst>
            </p:cNvPr>
            <p:cNvSpPr txBox="1"/>
            <p:nvPr/>
          </p:nvSpPr>
          <p:spPr>
            <a:xfrm>
              <a:off x="4724400" y="2828925"/>
              <a:ext cx="2743200" cy="7524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Deploy a custom template
Load file: azuredeploy.json</a:t>
              </a:r>
              <a:endParaRPr kumimoji="1" lang="ja-JP" altLang="en-US" sz="1050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endParaRPr>
            </a:p>
          </p:txBody>
        </p:sp>
      </p:grpSp>
      <p:grpSp>
        <p:nvGrpSpPr>
          <p:cNvPr id="23" name="service:start" descr="service;parent=participant-actions">
            <a:extLst>
              <a:ext uri="{FF2B5EF4-FFF2-40B4-BE49-F238E27FC236}">
                <a16:creationId xmlns:a16="http://schemas.microsoft.com/office/drawing/2014/main" id="{E0CD5297-04CF-2DB2-2502-DDD057C2BAE2}"/>
              </a:ext>
            </a:extLst>
          </p:cNvPr>
          <p:cNvGrpSpPr/>
          <p:nvPr/>
        </p:nvGrpSpPr>
        <p:grpSpPr>
          <a:xfrm>
            <a:off x="8763000" y="2057400"/>
            <a:ext cx="2895600" cy="1524000"/>
            <a:chOff x="8763000" y="2057400"/>
            <a:chExt cx="2895600" cy="1524000"/>
          </a:xfrm>
        </p:grpSpPr>
        <p:sp>
          <p:nvSpPr>
            <p:cNvPr id="18" name="service-anchor:start">
              <a:extLst>
                <a:ext uri="{FF2B5EF4-FFF2-40B4-BE49-F238E27FC236}">
                  <a16:creationId xmlns:a16="http://schemas.microsoft.com/office/drawing/2014/main" id="{F689D513-8CCD-B73B-6668-D781EE8F4543}"/>
                </a:ext>
              </a:extLst>
            </p:cNvPr>
            <p:cNvSpPr/>
            <p:nvPr/>
          </p:nvSpPr>
          <p:spPr>
            <a:xfrm>
              <a:off x="8763000" y="2057400"/>
              <a:ext cx="2895600" cy="1524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0" name="official-icon:start" descr="③ 既存 RG を選んで開始">
              <a:extLst>
                <a:ext uri="{FF2B5EF4-FFF2-40B4-BE49-F238E27FC236}">
                  <a16:creationId xmlns:a16="http://schemas.microsoft.com/office/drawing/2014/main" id="{5AD267D2-3878-C1A6-B048-862C872D479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982200" y="2057400"/>
              <a:ext cx="457200" cy="457200"/>
            </a:xfrm>
            <a:prstGeom prst="rect">
              <a:avLst/>
            </a:prstGeom>
          </p:spPr>
        </p:pic>
        <p:sp>
          <p:nvSpPr>
            <p:cNvPr id="21" name="service-label:start">
              <a:extLst>
                <a:ext uri="{FF2B5EF4-FFF2-40B4-BE49-F238E27FC236}">
                  <a16:creationId xmlns:a16="http://schemas.microsoft.com/office/drawing/2014/main" id="{F912DEC5-5115-8724-A5D7-93974C44678D}"/>
                </a:ext>
              </a:extLst>
            </p:cNvPr>
            <p:cNvSpPr txBox="1"/>
            <p:nvPr/>
          </p:nvSpPr>
          <p:spPr>
            <a:xfrm>
              <a:off x="8763000" y="2571750"/>
              <a:ext cx="28956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ja-JP" altLang="en-US" sz="1350">
                  <a:solidFill>
                    <a:srgbClr val="172B4D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③ 既存 </a:t>
              </a:r>
              <a:r>
                <a:rPr kumimoji="1" lang="en-US" altLang="ja-JP" sz="1350">
                  <a:solidFill>
                    <a:srgbClr val="172B4D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RG </a:t>
              </a:r>
              <a:r>
                <a:rPr kumimoji="1" lang="ja-JP" altLang="en-US" sz="1350">
                  <a:solidFill>
                    <a:srgbClr val="172B4D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を選んで開始</a:t>
              </a:r>
            </a:p>
          </p:txBody>
        </p:sp>
        <p:sp>
          <p:nvSpPr>
            <p:cNvPr id="22" name="service-detail:start">
              <a:extLst>
                <a:ext uri="{FF2B5EF4-FFF2-40B4-BE49-F238E27FC236}">
                  <a16:creationId xmlns:a16="http://schemas.microsoft.com/office/drawing/2014/main" id="{DAC2DBE2-7FB4-838B-3B81-3AFF965ACEC2}"/>
                </a:ext>
              </a:extLst>
            </p:cNvPr>
            <p:cNvSpPr txBox="1"/>
            <p:nvPr/>
          </p:nvSpPr>
          <p:spPr>
            <a:xfrm>
              <a:off x="8763000" y="2828925"/>
              <a:ext cx="2895600" cy="7524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Subscription / Resource group
</a:t>
              </a:r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既定値を維持 → </a:t>
              </a:r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Create</a:t>
              </a:r>
              <a:endParaRPr kumimoji="1" lang="ja-JP" altLang="en-US" sz="1050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endParaRPr>
            </a:p>
          </p:txBody>
        </p:sp>
      </p:grpSp>
      <p:grpSp>
        <p:nvGrpSpPr>
          <p:cNvPr id="29" name="service:confirm" descr="service;parent=participant-actions">
            <a:extLst>
              <a:ext uri="{FF2B5EF4-FFF2-40B4-BE49-F238E27FC236}">
                <a16:creationId xmlns:a16="http://schemas.microsoft.com/office/drawing/2014/main" id="{EC064ACA-FD99-AC78-DD3F-DFB4D7B31763}"/>
              </a:ext>
            </a:extLst>
          </p:cNvPr>
          <p:cNvGrpSpPr/>
          <p:nvPr/>
        </p:nvGrpSpPr>
        <p:grpSpPr>
          <a:xfrm>
            <a:off x="13030200" y="2057400"/>
            <a:ext cx="3048000" cy="1524000"/>
            <a:chOff x="13030200" y="2057400"/>
            <a:chExt cx="3048000" cy="1524000"/>
          </a:xfrm>
        </p:grpSpPr>
        <p:sp>
          <p:nvSpPr>
            <p:cNvPr id="24" name="service-anchor:confirm">
              <a:extLst>
                <a:ext uri="{FF2B5EF4-FFF2-40B4-BE49-F238E27FC236}">
                  <a16:creationId xmlns:a16="http://schemas.microsoft.com/office/drawing/2014/main" id="{990572CE-5071-FB3F-4773-16CEF9FEC99F}"/>
                </a:ext>
              </a:extLst>
            </p:cNvPr>
            <p:cNvSpPr/>
            <p:nvPr/>
          </p:nvSpPr>
          <p:spPr>
            <a:xfrm>
              <a:off x="13030200" y="2057400"/>
              <a:ext cx="3048000" cy="1524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6" name="official-icon:confirm" descr="④ 全体の成功と出力を確認">
              <a:extLst>
                <a:ext uri="{FF2B5EF4-FFF2-40B4-BE49-F238E27FC236}">
                  <a16:creationId xmlns:a16="http://schemas.microsoft.com/office/drawing/2014/main" id="{40B2FCE6-3025-3A66-BD20-02B7A079EF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325600" y="2057400"/>
              <a:ext cx="457200" cy="457200"/>
            </a:xfrm>
            <a:prstGeom prst="rect">
              <a:avLst/>
            </a:prstGeom>
          </p:spPr>
        </p:pic>
        <p:sp>
          <p:nvSpPr>
            <p:cNvPr id="27" name="service-label:confirm">
              <a:extLst>
                <a:ext uri="{FF2B5EF4-FFF2-40B4-BE49-F238E27FC236}">
                  <a16:creationId xmlns:a16="http://schemas.microsoft.com/office/drawing/2014/main" id="{17C15C46-2B77-6918-5BAF-96FA7EC4A750}"/>
                </a:ext>
              </a:extLst>
            </p:cNvPr>
            <p:cNvSpPr txBox="1"/>
            <p:nvPr/>
          </p:nvSpPr>
          <p:spPr>
            <a:xfrm>
              <a:off x="13030200" y="2571750"/>
              <a:ext cx="30480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ja-JP" altLang="en-US" sz="1350">
                  <a:solidFill>
                    <a:srgbClr val="172B4D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④ 全体の成功と出力を確認</a:t>
              </a:r>
            </a:p>
          </p:txBody>
        </p:sp>
        <p:sp>
          <p:nvSpPr>
            <p:cNvPr id="28" name="service-detail:confirm">
              <a:extLst>
                <a:ext uri="{FF2B5EF4-FFF2-40B4-BE49-F238E27FC236}">
                  <a16:creationId xmlns:a16="http://schemas.microsoft.com/office/drawing/2014/main" id="{2C802744-8A97-8D4F-25B1-AA7613B3DDCC}"/>
                </a:ext>
              </a:extLst>
            </p:cNvPr>
            <p:cNvSpPr txBox="1"/>
            <p:nvPr/>
          </p:nvSpPr>
          <p:spPr>
            <a:xfrm>
              <a:off x="13030200" y="2828925"/>
              <a:ext cx="3048000" cy="7524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Succeeded / Outputs
workshopContext.setup_status = complete</a:t>
              </a:r>
              <a:endParaRPr kumimoji="1" lang="ja-JP" altLang="en-US" sz="1050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endParaRPr>
            </a:p>
          </p:txBody>
        </p:sp>
      </p:grpSp>
      <p:grpSp>
        <p:nvGrpSpPr>
          <p:cNvPr id="36" name="service:resources" descr="service;parent=template-internal">
            <a:extLst>
              <a:ext uri="{FF2B5EF4-FFF2-40B4-BE49-F238E27FC236}">
                <a16:creationId xmlns:a16="http://schemas.microsoft.com/office/drawing/2014/main" id="{E2CE8188-DE54-8305-29C2-9F5C04619433}"/>
              </a:ext>
            </a:extLst>
          </p:cNvPr>
          <p:cNvGrpSpPr/>
          <p:nvPr/>
        </p:nvGrpSpPr>
        <p:grpSpPr>
          <a:xfrm>
            <a:off x="914400" y="5410200"/>
            <a:ext cx="3048000" cy="1371600"/>
            <a:chOff x="914400" y="5410200"/>
            <a:chExt cx="3048000" cy="1371600"/>
          </a:xfrm>
        </p:grpSpPr>
        <p:sp>
          <p:nvSpPr>
            <p:cNvPr id="30" name="service-anchor:resources">
              <a:extLst>
                <a:ext uri="{FF2B5EF4-FFF2-40B4-BE49-F238E27FC236}">
                  <a16:creationId xmlns:a16="http://schemas.microsoft.com/office/drawing/2014/main" id="{AC605D2A-5318-4141-DA74-F6AC1039014B}"/>
                </a:ext>
              </a:extLst>
            </p:cNvPr>
            <p:cNvSpPr/>
            <p:nvPr/>
          </p:nvSpPr>
          <p:spPr>
            <a:xfrm>
              <a:off x="914400" y="5410200"/>
              <a:ext cx="3048000" cy="13716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generic-symbol:resources:component">
              <a:extLst>
                <a:ext uri="{FF2B5EF4-FFF2-40B4-BE49-F238E27FC236}">
                  <a16:creationId xmlns:a16="http://schemas.microsoft.com/office/drawing/2014/main" id="{A0C82442-AF73-5975-833C-09804A1B2DFC}"/>
                </a:ext>
              </a:extLst>
            </p:cNvPr>
            <p:cNvSpPr/>
            <p:nvPr/>
          </p:nvSpPr>
          <p:spPr>
            <a:xfrm>
              <a:off x="2209800" y="5448300"/>
              <a:ext cx="457200" cy="381000"/>
            </a:xfrm>
            <a:prstGeom prst="roundRect">
              <a:avLst/>
            </a:prstGeom>
            <a:solidFill>
              <a:srgbClr val="E7EEF5"/>
            </a:solidFill>
            <a:ln w="10477">
              <a:solidFill>
                <a:srgbClr val="52657A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generic-symbol:resources:row-1">
              <a:extLst>
                <a:ext uri="{FF2B5EF4-FFF2-40B4-BE49-F238E27FC236}">
                  <a16:creationId xmlns:a16="http://schemas.microsoft.com/office/drawing/2014/main" id="{C449967A-DE19-C9F1-A994-9B86A16878D0}"/>
                </a:ext>
              </a:extLst>
            </p:cNvPr>
            <p:cNvSpPr/>
            <p:nvPr/>
          </p:nvSpPr>
          <p:spPr>
            <a:xfrm>
              <a:off x="2314575" y="5562600"/>
              <a:ext cx="247650" cy="19050"/>
            </a:xfrm>
            <a:prstGeom prst="rect">
              <a:avLst/>
            </a:prstGeom>
            <a:solidFill>
              <a:srgbClr val="FFFFFF"/>
            </a:solidFill>
            <a:ln w="10477">
              <a:solidFill>
                <a:srgbClr val="52657A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generic-symbol:resources:row-2">
              <a:extLst>
                <a:ext uri="{FF2B5EF4-FFF2-40B4-BE49-F238E27FC236}">
                  <a16:creationId xmlns:a16="http://schemas.microsoft.com/office/drawing/2014/main" id="{0F8A4726-ACBE-AD09-C0DA-9D3089D58CB5}"/>
                </a:ext>
              </a:extLst>
            </p:cNvPr>
            <p:cNvSpPr/>
            <p:nvPr/>
          </p:nvSpPr>
          <p:spPr>
            <a:xfrm>
              <a:off x="2314575" y="5676900"/>
              <a:ext cx="247650" cy="19050"/>
            </a:xfrm>
            <a:prstGeom prst="rect">
              <a:avLst/>
            </a:prstGeom>
            <a:solidFill>
              <a:srgbClr val="FFFFFF"/>
            </a:solidFill>
            <a:ln w="10477">
              <a:solidFill>
                <a:srgbClr val="52657A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service-label:resources">
              <a:extLst>
                <a:ext uri="{FF2B5EF4-FFF2-40B4-BE49-F238E27FC236}">
                  <a16:creationId xmlns:a16="http://schemas.microsoft.com/office/drawing/2014/main" id="{6DA8B7E9-D851-06B8-1819-4BAE28AFA4BA}"/>
                </a:ext>
              </a:extLst>
            </p:cNvPr>
            <p:cNvSpPr txBox="1"/>
            <p:nvPr/>
          </p:nvSpPr>
          <p:spPr>
            <a:xfrm>
              <a:off x="914400" y="5924550"/>
              <a:ext cx="30480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ja-JP" altLang="en-US" sz="1350">
                  <a:solidFill>
                    <a:srgbClr val="172B4D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基盤リソースを作成</a:t>
              </a:r>
            </a:p>
          </p:txBody>
        </p:sp>
        <p:sp>
          <p:nvSpPr>
            <p:cNvPr id="35" name="service-detail:resources">
              <a:extLst>
                <a:ext uri="{FF2B5EF4-FFF2-40B4-BE49-F238E27FC236}">
                  <a16:creationId xmlns:a16="http://schemas.microsoft.com/office/drawing/2014/main" id="{3785010E-B7B9-7831-6971-2EA66D343DF8}"/>
                </a:ext>
              </a:extLst>
            </p:cNvPr>
            <p:cNvSpPr txBox="1"/>
            <p:nvPr/>
          </p:nvSpPr>
          <p:spPr>
            <a:xfrm>
              <a:off x="914400" y="6181725"/>
              <a:ext cx="3048000" cy="6000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Foundry / 3 </a:t>
              </a:r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モデル </a:t>
              </a:r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/ Search
API / </a:t>
              </a:r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監視 </a:t>
              </a:r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/ </a:t>
              </a:r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初期化 </a:t>
              </a:r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UAMI</a:t>
              </a:r>
              <a:endParaRPr kumimoji="1" lang="ja-JP" altLang="en-US" sz="1050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endParaRPr>
            </a:p>
          </p:txBody>
        </p:sp>
      </p:grpSp>
      <p:grpSp>
        <p:nvGrpSpPr>
          <p:cNvPr id="43" name="service:connections" descr="service;parent=template-internal">
            <a:extLst>
              <a:ext uri="{FF2B5EF4-FFF2-40B4-BE49-F238E27FC236}">
                <a16:creationId xmlns:a16="http://schemas.microsoft.com/office/drawing/2014/main" id="{15A3586F-93E7-98D6-7F64-89C06E0612F1}"/>
              </a:ext>
            </a:extLst>
          </p:cNvPr>
          <p:cNvGrpSpPr/>
          <p:nvPr/>
        </p:nvGrpSpPr>
        <p:grpSpPr>
          <a:xfrm>
            <a:off x="4953000" y="5410200"/>
            <a:ext cx="3048000" cy="1371600"/>
            <a:chOff x="4953000" y="5410200"/>
            <a:chExt cx="3048000" cy="1371600"/>
          </a:xfrm>
        </p:grpSpPr>
        <p:sp>
          <p:nvSpPr>
            <p:cNvPr id="37" name="service-anchor:connections">
              <a:extLst>
                <a:ext uri="{FF2B5EF4-FFF2-40B4-BE49-F238E27FC236}">
                  <a16:creationId xmlns:a16="http://schemas.microsoft.com/office/drawing/2014/main" id="{04DFBBB5-DB44-8BC6-D640-6DA6CB8CA7CF}"/>
                </a:ext>
              </a:extLst>
            </p:cNvPr>
            <p:cNvSpPr/>
            <p:nvPr/>
          </p:nvSpPr>
          <p:spPr>
            <a:xfrm>
              <a:off x="4953000" y="5410200"/>
              <a:ext cx="3048000" cy="13716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generic-symbol:connections:left">
              <a:extLst>
                <a:ext uri="{FF2B5EF4-FFF2-40B4-BE49-F238E27FC236}">
                  <a16:creationId xmlns:a16="http://schemas.microsoft.com/office/drawing/2014/main" id="{AADA63D8-A24E-0332-63E6-9C18EEA36A24}"/>
                </a:ext>
              </a:extLst>
            </p:cNvPr>
            <p:cNvSpPr/>
            <p:nvPr/>
          </p:nvSpPr>
          <p:spPr>
            <a:xfrm>
              <a:off x="6248400" y="5524500"/>
              <a:ext cx="114300" cy="228600"/>
            </a:xfrm>
            <a:prstGeom prst="rect">
              <a:avLst/>
            </a:prstGeom>
            <a:solidFill>
              <a:srgbClr val="E7EEF5"/>
            </a:solidFill>
            <a:ln w="10477">
              <a:solidFill>
                <a:srgbClr val="52657A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generic-symbol:connections:link">
              <a:extLst>
                <a:ext uri="{FF2B5EF4-FFF2-40B4-BE49-F238E27FC236}">
                  <a16:creationId xmlns:a16="http://schemas.microsoft.com/office/drawing/2014/main" id="{1BE48411-1083-634E-6581-1A10BF191BFE}"/>
                </a:ext>
              </a:extLst>
            </p:cNvPr>
            <p:cNvSpPr/>
            <p:nvPr/>
          </p:nvSpPr>
          <p:spPr>
            <a:xfrm>
              <a:off x="6362700" y="5619750"/>
              <a:ext cx="228600" cy="38100"/>
            </a:xfrm>
            <a:prstGeom prst="rect">
              <a:avLst/>
            </a:prstGeom>
            <a:solidFill>
              <a:srgbClr val="E7EEF5"/>
            </a:solidFill>
            <a:ln w="10477">
              <a:solidFill>
                <a:srgbClr val="52657A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generic-symbol:connections:right">
              <a:extLst>
                <a:ext uri="{FF2B5EF4-FFF2-40B4-BE49-F238E27FC236}">
                  <a16:creationId xmlns:a16="http://schemas.microsoft.com/office/drawing/2014/main" id="{4AEFA56E-8F92-B808-CA86-10CB2E489AF3}"/>
                </a:ext>
              </a:extLst>
            </p:cNvPr>
            <p:cNvSpPr/>
            <p:nvPr/>
          </p:nvSpPr>
          <p:spPr>
            <a:xfrm>
              <a:off x="6591300" y="5524500"/>
              <a:ext cx="114300" cy="228600"/>
            </a:xfrm>
            <a:prstGeom prst="rect">
              <a:avLst/>
            </a:prstGeom>
            <a:solidFill>
              <a:srgbClr val="E7EEF5"/>
            </a:solidFill>
            <a:ln w="10477">
              <a:solidFill>
                <a:srgbClr val="52657A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service-label:connections">
              <a:extLst>
                <a:ext uri="{FF2B5EF4-FFF2-40B4-BE49-F238E27FC236}">
                  <a16:creationId xmlns:a16="http://schemas.microsoft.com/office/drawing/2014/main" id="{8C2F97C7-A3A1-1E91-92E6-47345C520999}"/>
                </a:ext>
              </a:extLst>
            </p:cNvPr>
            <p:cNvSpPr txBox="1"/>
            <p:nvPr/>
          </p:nvSpPr>
          <p:spPr>
            <a:xfrm>
              <a:off x="4953000" y="5924550"/>
              <a:ext cx="30480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ja-JP" altLang="en-US" sz="1350">
                  <a:solidFill>
                    <a:srgbClr val="172B4D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接続・</a:t>
              </a:r>
              <a:r>
                <a:rPr kumimoji="1" lang="en-US" altLang="ja-JP" sz="1350">
                  <a:solidFill>
                    <a:srgbClr val="172B4D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RBAC </a:t>
              </a:r>
              <a:r>
                <a:rPr kumimoji="1" lang="ja-JP" altLang="en-US" sz="1350">
                  <a:solidFill>
                    <a:srgbClr val="172B4D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を設定</a:t>
              </a:r>
            </a:p>
          </p:txBody>
        </p:sp>
        <p:sp>
          <p:nvSpPr>
            <p:cNvPr id="42" name="service-detail:connections">
              <a:extLst>
                <a:ext uri="{FF2B5EF4-FFF2-40B4-BE49-F238E27FC236}">
                  <a16:creationId xmlns:a16="http://schemas.microsoft.com/office/drawing/2014/main" id="{D3503642-4DFF-1CFD-628C-968E01F07665}"/>
                </a:ext>
              </a:extLst>
            </p:cNvPr>
            <p:cNvSpPr txBox="1"/>
            <p:nvPr/>
          </p:nvSpPr>
          <p:spPr>
            <a:xfrm>
              <a:off x="4953000" y="6181725"/>
              <a:ext cx="3048000" cy="6000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各リソースの依存関係に従う
参加者 </a:t>
              </a:r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/ </a:t>
              </a:r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サービス </a:t>
              </a:r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/ </a:t>
              </a:r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初期化 </a:t>
              </a:r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ID</a:t>
              </a:r>
              <a:endParaRPr kumimoji="1" lang="ja-JP" altLang="en-US" sz="1050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endParaRPr>
            </a:p>
          </p:txBody>
        </p:sp>
      </p:grpSp>
      <p:grpSp>
        <p:nvGrpSpPr>
          <p:cNvPr id="50" name="service:bootstrap" descr="service;parent=template-internal">
            <a:extLst>
              <a:ext uri="{FF2B5EF4-FFF2-40B4-BE49-F238E27FC236}">
                <a16:creationId xmlns:a16="http://schemas.microsoft.com/office/drawing/2014/main" id="{5CBB1A80-B977-F682-8783-018F029982B6}"/>
              </a:ext>
            </a:extLst>
          </p:cNvPr>
          <p:cNvGrpSpPr/>
          <p:nvPr/>
        </p:nvGrpSpPr>
        <p:grpSpPr>
          <a:xfrm>
            <a:off x="8991600" y="5410200"/>
            <a:ext cx="3048000" cy="1371600"/>
            <a:chOff x="8991600" y="5410200"/>
            <a:chExt cx="3048000" cy="1371600"/>
          </a:xfrm>
        </p:grpSpPr>
        <p:sp>
          <p:nvSpPr>
            <p:cNvPr id="44" name="service-anchor:bootstrap">
              <a:extLst>
                <a:ext uri="{FF2B5EF4-FFF2-40B4-BE49-F238E27FC236}">
                  <a16:creationId xmlns:a16="http://schemas.microsoft.com/office/drawing/2014/main" id="{E67B65F2-81E2-6334-2429-AC0622A1B2E9}"/>
                </a:ext>
              </a:extLst>
            </p:cNvPr>
            <p:cNvSpPr/>
            <p:nvPr/>
          </p:nvSpPr>
          <p:spPr>
            <a:xfrm>
              <a:off x="8991600" y="5410200"/>
              <a:ext cx="3048000" cy="13716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generic-symbol:bootstrap:left">
              <a:extLst>
                <a:ext uri="{FF2B5EF4-FFF2-40B4-BE49-F238E27FC236}">
                  <a16:creationId xmlns:a16="http://schemas.microsoft.com/office/drawing/2014/main" id="{415440AC-841E-EB21-6743-1D206AC2E069}"/>
                </a:ext>
              </a:extLst>
            </p:cNvPr>
            <p:cNvSpPr/>
            <p:nvPr/>
          </p:nvSpPr>
          <p:spPr>
            <a:xfrm>
              <a:off x="10287000" y="5524500"/>
              <a:ext cx="114300" cy="228600"/>
            </a:xfrm>
            <a:prstGeom prst="rect">
              <a:avLst/>
            </a:prstGeom>
            <a:solidFill>
              <a:srgbClr val="E7EEF5"/>
            </a:solidFill>
            <a:ln w="10477">
              <a:solidFill>
                <a:srgbClr val="52657A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generic-symbol:bootstrap:link">
              <a:extLst>
                <a:ext uri="{FF2B5EF4-FFF2-40B4-BE49-F238E27FC236}">
                  <a16:creationId xmlns:a16="http://schemas.microsoft.com/office/drawing/2014/main" id="{3725DFCD-6F7C-4D9F-C254-DD826C91A53E}"/>
                </a:ext>
              </a:extLst>
            </p:cNvPr>
            <p:cNvSpPr/>
            <p:nvPr/>
          </p:nvSpPr>
          <p:spPr>
            <a:xfrm>
              <a:off x="10401300" y="5619750"/>
              <a:ext cx="228600" cy="38100"/>
            </a:xfrm>
            <a:prstGeom prst="rect">
              <a:avLst/>
            </a:prstGeom>
            <a:solidFill>
              <a:srgbClr val="E7EEF5"/>
            </a:solidFill>
            <a:ln w="10477">
              <a:solidFill>
                <a:srgbClr val="52657A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generic-symbol:bootstrap:right">
              <a:extLst>
                <a:ext uri="{FF2B5EF4-FFF2-40B4-BE49-F238E27FC236}">
                  <a16:creationId xmlns:a16="http://schemas.microsoft.com/office/drawing/2014/main" id="{78202D74-1461-C0E1-2A86-3C9708B246BA}"/>
                </a:ext>
              </a:extLst>
            </p:cNvPr>
            <p:cNvSpPr/>
            <p:nvPr/>
          </p:nvSpPr>
          <p:spPr>
            <a:xfrm>
              <a:off x="10629900" y="5524500"/>
              <a:ext cx="114300" cy="228600"/>
            </a:xfrm>
            <a:prstGeom prst="rect">
              <a:avLst/>
            </a:prstGeom>
            <a:solidFill>
              <a:srgbClr val="E7EEF5"/>
            </a:solidFill>
            <a:ln w="10477">
              <a:solidFill>
                <a:srgbClr val="52657A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service-label:bootstrap">
              <a:extLst>
                <a:ext uri="{FF2B5EF4-FFF2-40B4-BE49-F238E27FC236}">
                  <a16:creationId xmlns:a16="http://schemas.microsoft.com/office/drawing/2014/main" id="{9E4EB40F-3B69-73F3-BE28-A3917A76A0BD}"/>
                </a:ext>
              </a:extLst>
            </p:cNvPr>
            <p:cNvSpPr txBox="1"/>
            <p:nvPr/>
          </p:nvSpPr>
          <p:spPr>
            <a:xfrm>
              <a:off x="8991600" y="5924550"/>
              <a:ext cx="30480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en-US" altLang="ja-JP" sz="1350">
                  <a:solidFill>
                    <a:srgbClr val="172B4D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Deployment Scripts</a:t>
              </a:r>
              <a:endParaRPr kumimoji="1" lang="ja-JP" altLang="en-US" sz="13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endParaRPr>
            </a:p>
          </p:txBody>
        </p:sp>
        <p:sp>
          <p:nvSpPr>
            <p:cNvPr id="49" name="service-detail:bootstrap">
              <a:extLst>
                <a:ext uri="{FF2B5EF4-FFF2-40B4-BE49-F238E27FC236}">
                  <a16:creationId xmlns:a16="http://schemas.microsoft.com/office/drawing/2014/main" id="{8DB65E4A-4E08-5DD1-D649-BF18FAF119CA}"/>
                </a:ext>
              </a:extLst>
            </p:cNvPr>
            <p:cNvSpPr txBox="1"/>
            <p:nvPr/>
          </p:nvSpPr>
          <p:spPr>
            <a:xfrm>
              <a:off x="8991600" y="6181725"/>
              <a:ext cx="3048000" cy="6000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必要リソース・接続・</a:t>
              </a:r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RBAC </a:t>
              </a:r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の後
</a:t>
              </a:r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AzureCLI / </a:t>
              </a:r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専用 </a:t>
              </a:r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UAMI</a:t>
              </a:r>
              <a:endParaRPr kumimoji="1" lang="ja-JP" altLang="en-US" sz="1050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endParaRPr>
            </a:p>
          </p:txBody>
        </p:sp>
      </p:grpSp>
      <p:grpSp>
        <p:nvGrpSpPr>
          <p:cNvPr id="57" name="service:source" descr="service;parent=template-internal">
            <a:extLst>
              <a:ext uri="{FF2B5EF4-FFF2-40B4-BE49-F238E27FC236}">
                <a16:creationId xmlns:a16="http://schemas.microsoft.com/office/drawing/2014/main" id="{CC89DA3C-A212-2249-1F94-73B0FD78F4CE}"/>
              </a:ext>
            </a:extLst>
          </p:cNvPr>
          <p:cNvGrpSpPr/>
          <p:nvPr/>
        </p:nvGrpSpPr>
        <p:grpSpPr>
          <a:xfrm>
            <a:off x="13030200" y="5410200"/>
            <a:ext cx="3048000" cy="1371600"/>
            <a:chOff x="13030200" y="5410200"/>
            <a:chExt cx="3048000" cy="1371600"/>
          </a:xfrm>
        </p:grpSpPr>
        <p:sp>
          <p:nvSpPr>
            <p:cNvPr id="51" name="service-anchor:source">
              <a:extLst>
                <a:ext uri="{FF2B5EF4-FFF2-40B4-BE49-F238E27FC236}">
                  <a16:creationId xmlns:a16="http://schemas.microsoft.com/office/drawing/2014/main" id="{3E716047-0DF8-3E5B-2DEE-34FCE6BF1B61}"/>
                </a:ext>
              </a:extLst>
            </p:cNvPr>
            <p:cNvSpPr/>
            <p:nvPr/>
          </p:nvSpPr>
          <p:spPr>
            <a:xfrm>
              <a:off x="13030200" y="5410200"/>
              <a:ext cx="3048000" cy="13716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" name="generic-symbol:source:component">
              <a:extLst>
                <a:ext uri="{FF2B5EF4-FFF2-40B4-BE49-F238E27FC236}">
                  <a16:creationId xmlns:a16="http://schemas.microsoft.com/office/drawing/2014/main" id="{48F338C1-B74D-EA10-C86D-5A1502D4FE17}"/>
                </a:ext>
              </a:extLst>
            </p:cNvPr>
            <p:cNvSpPr/>
            <p:nvPr/>
          </p:nvSpPr>
          <p:spPr>
            <a:xfrm>
              <a:off x="14325600" y="5448300"/>
              <a:ext cx="457200" cy="381000"/>
            </a:xfrm>
            <a:prstGeom prst="roundRect">
              <a:avLst/>
            </a:prstGeom>
            <a:solidFill>
              <a:srgbClr val="E7EEF5"/>
            </a:solidFill>
            <a:ln w="10477">
              <a:solidFill>
                <a:srgbClr val="52657A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" name="generic-symbol:source:row-1">
              <a:extLst>
                <a:ext uri="{FF2B5EF4-FFF2-40B4-BE49-F238E27FC236}">
                  <a16:creationId xmlns:a16="http://schemas.microsoft.com/office/drawing/2014/main" id="{28157655-CF30-E095-D168-46E39C6ACEEA}"/>
                </a:ext>
              </a:extLst>
            </p:cNvPr>
            <p:cNvSpPr/>
            <p:nvPr/>
          </p:nvSpPr>
          <p:spPr>
            <a:xfrm>
              <a:off x="14430375" y="5562600"/>
              <a:ext cx="247650" cy="19050"/>
            </a:xfrm>
            <a:prstGeom prst="rect">
              <a:avLst/>
            </a:prstGeom>
            <a:solidFill>
              <a:srgbClr val="FFFFFF"/>
            </a:solidFill>
            <a:ln w="10477">
              <a:solidFill>
                <a:srgbClr val="52657A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generic-symbol:source:row-2">
              <a:extLst>
                <a:ext uri="{FF2B5EF4-FFF2-40B4-BE49-F238E27FC236}">
                  <a16:creationId xmlns:a16="http://schemas.microsoft.com/office/drawing/2014/main" id="{CF448442-38E2-78D5-C7A1-90F93B9A8221}"/>
                </a:ext>
              </a:extLst>
            </p:cNvPr>
            <p:cNvSpPr/>
            <p:nvPr/>
          </p:nvSpPr>
          <p:spPr>
            <a:xfrm>
              <a:off x="14430375" y="5676900"/>
              <a:ext cx="247650" cy="19050"/>
            </a:xfrm>
            <a:prstGeom prst="rect">
              <a:avLst/>
            </a:prstGeom>
            <a:solidFill>
              <a:srgbClr val="FFFFFF"/>
            </a:solidFill>
            <a:ln w="10477">
              <a:solidFill>
                <a:srgbClr val="52657A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5" name="service-label:source">
              <a:extLst>
                <a:ext uri="{FF2B5EF4-FFF2-40B4-BE49-F238E27FC236}">
                  <a16:creationId xmlns:a16="http://schemas.microsoft.com/office/drawing/2014/main" id="{61DD89CB-E307-F673-DF98-4D1B694D66B1}"/>
                </a:ext>
              </a:extLst>
            </p:cNvPr>
            <p:cNvSpPr txBox="1"/>
            <p:nvPr/>
          </p:nvSpPr>
          <p:spPr>
            <a:xfrm>
              <a:off x="13030200" y="5924550"/>
              <a:ext cx="30480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ja-JP" altLang="en-US" sz="1350">
                  <a:solidFill>
                    <a:srgbClr val="172B4D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固定ソースを取得・確認</a:t>
              </a:r>
            </a:p>
          </p:txBody>
        </p:sp>
        <p:sp>
          <p:nvSpPr>
            <p:cNvPr id="56" name="service-detail:source">
              <a:extLst>
                <a:ext uri="{FF2B5EF4-FFF2-40B4-BE49-F238E27FC236}">
                  <a16:creationId xmlns:a16="http://schemas.microsoft.com/office/drawing/2014/main" id="{EBD3CF43-CCAB-6B1C-28AA-052138727E95}"/>
                </a:ext>
              </a:extLst>
            </p:cNvPr>
            <p:cNvSpPr txBox="1"/>
            <p:nvPr/>
          </p:nvSpPr>
          <p:spPr>
            <a:xfrm>
              <a:off x="13030200" y="6181725"/>
              <a:ext cx="3048000" cy="6000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GitHub SHA / </a:t>
              </a:r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独立 </a:t>
              </a:r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Python </a:t>
              </a:r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環境
</a:t>
              </a:r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manifest</a:t>
              </a:r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・</a:t>
              </a:r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checksum </a:t>
              </a:r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を検証</a:t>
              </a:r>
            </a:p>
          </p:txBody>
        </p:sp>
      </p:grpSp>
      <p:grpSp>
        <p:nvGrpSpPr>
          <p:cNvPr id="63" name="service:seed" descr="service;parent=template-internal">
            <a:extLst>
              <a:ext uri="{FF2B5EF4-FFF2-40B4-BE49-F238E27FC236}">
                <a16:creationId xmlns:a16="http://schemas.microsoft.com/office/drawing/2014/main" id="{DCDE4DBA-2A9D-2106-EC58-8CB84E12D5ED}"/>
              </a:ext>
            </a:extLst>
          </p:cNvPr>
          <p:cNvGrpSpPr/>
          <p:nvPr/>
        </p:nvGrpSpPr>
        <p:grpSpPr>
          <a:xfrm>
            <a:off x="914400" y="7772400"/>
            <a:ext cx="3048000" cy="1371600"/>
            <a:chOff x="914400" y="7772400"/>
            <a:chExt cx="3048000" cy="1371600"/>
          </a:xfrm>
        </p:grpSpPr>
        <p:sp>
          <p:nvSpPr>
            <p:cNvPr id="58" name="service-anchor:seed">
              <a:extLst>
                <a:ext uri="{FF2B5EF4-FFF2-40B4-BE49-F238E27FC236}">
                  <a16:creationId xmlns:a16="http://schemas.microsoft.com/office/drawing/2014/main" id="{AFFCE65D-E3EA-0A40-2FF7-B33DD18AE285}"/>
                </a:ext>
              </a:extLst>
            </p:cNvPr>
            <p:cNvSpPr/>
            <p:nvPr/>
          </p:nvSpPr>
          <p:spPr>
            <a:xfrm>
              <a:off x="914400" y="7772400"/>
              <a:ext cx="3048000" cy="13716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0" name="official-icon:seed" descr="Search に初期データを投入">
              <a:extLst>
                <a:ext uri="{FF2B5EF4-FFF2-40B4-BE49-F238E27FC236}">
                  <a16:creationId xmlns:a16="http://schemas.microsoft.com/office/drawing/2014/main" id="{C5014FD2-3F58-C9FC-B45A-77889EBEC4E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209800" y="7772400"/>
              <a:ext cx="457200" cy="457200"/>
            </a:xfrm>
            <a:prstGeom prst="rect">
              <a:avLst/>
            </a:prstGeom>
          </p:spPr>
        </p:pic>
        <p:sp>
          <p:nvSpPr>
            <p:cNvPr id="61" name="service-label:seed">
              <a:extLst>
                <a:ext uri="{FF2B5EF4-FFF2-40B4-BE49-F238E27FC236}">
                  <a16:creationId xmlns:a16="http://schemas.microsoft.com/office/drawing/2014/main" id="{77A5F7BC-FB37-ED4A-8065-44CE54DB07FA}"/>
                </a:ext>
              </a:extLst>
            </p:cNvPr>
            <p:cNvSpPr txBox="1"/>
            <p:nvPr/>
          </p:nvSpPr>
          <p:spPr>
            <a:xfrm>
              <a:off x="914400" y="8286750"/>
              <a:ext cx="30480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en-US" altLang="ja-JP" sz="1350">
                  <a:solidFill>
                    <a:srgbClr val="172B4D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Search </a:t>
              </a:r>
              <a:r>
                <a:rPr kumimoji="1" lang="ja-JP" altLang="en-US" sz="1350">
                  <a:solidFill>
                    <a:srgbClr val="172B4D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に初期データを投入</a:t>
              </a:r>
            </a:p>
          </p:txBody>
        </p:sp>
        <p:sp>
          <p:nvSpPr>
            <p:cNvPr id="62" name="service-detail:seed">
              <a:extLst>
                <a:ext uri="{FF2B5EF4-FFF2-40B4-BE49-F238E27FC236}">
                  <a16:creationId xmlns:a16="http://schemas.microsoft.com/office/drawing/2014/main" id="{6FC23F9B-3F29-5A7B-06DF-66F1692EA48B}"/>
                </a:ext>
              </a:extLst>
            </p:cNvPr>
            <p:cNvSpPr txBox="1"/>
            <p:nvPr/>
          </p:nvSpPr>
          <p:spPr>
            <a:xfrm>
              <a:off x="914400" y="8543925"/>
              <a:ext cx="3048000" cy="6000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Python </a:t>
              </a:r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で埋め込みを生成
</a:t>
              </a:r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policy → approval </a:t>
              </a:r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の </a:t>
              </a:r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2 index</a:t>
              </a:r>
              <a:endParaRPr kumimoji="1" lang="ja-JP" altLang="en-US" sz="1050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endParaRPr>
            </a:p>
          </p:txBody>
        </p:sp>
      </p:grpSp>
      <p:grpSp>
        <p:nvGrpSpPr>
          <p:cNvPr id="69" name="service:evaluation" descr="service;parent=template-internal">
            <a:extLst>
              <a:ext uri="{FF2B5EF4-FFF2-40B4-BE49-F238E27FC236}">
                <a16:creationId xmlns:a16="http://schemas.microsoft.com/office/drawing/2014/main" id="{6B2B3102-F9B6-EEE2-2A6D-4144A9A6A1CE}"/>
              </a:ext>
            </a:extLst>
          </p:cNvPr>
          <p:cNvGrpSpPr/>
          <p:nvPr/>
        </p:nvGrpSpPr>
        <p:grpSpPr>
          <a:xfrm>
            <a:off x="4953000" y="7772400"/>
            <a:ext cx="3048000" cy="1371600"/>
            <a:chOff x="4953000" y="7772400"/>
            <a:chExt cx="3048000" cy="1371600"/>
          </a:xfrm>
        </p:grpSpPr>
        <p:sp>
          <p:nvSpPr>
            <p:cNvPr id="64" name="service-anchor:evaluation">
              <a:extLst>
                <a:ext uri="{FF2B5EF4-FFF2-40B4-BE49-F238E27FC236}">
                  <a16:creationId xmlns:a16="http://schemas.microsoft.com/office/drawing/2014/main" id="{2E6B1D82-DF15-AFE6-4525-E379950BEF85}"/>
                </a:ext>
              </a:extLst>
            </p:cNvPr>
            <p:cNvSpPr/>
            <p:nvPr/>
          </p:nvSpPr>
          <p:spPr>
            <a:xfrm>
              <a:off x="4953000" y="7772400"/>
              <a:ext cx="3048000" cy="13716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6" name="official-icon:evaluation" descr="Foundry 評価教材を準備">
              <a:extLst>
                <a:ext uri="{FF2B5EF4-FFF2-40B4-BE49-F238E27FC236}">
                  <a16:creationId xmlns:a16="http://schemas.microsoft.com/office/drawing/2014/main" id="{5727BCF4-1972-E28A-E482-F28AF561C7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48400" y="7772400"/>
              <a:ext cx="457200" cy="457200"/>
            </a:xfrm>
            <a:prstGeom prst="rect">
              <a:avLst/>
            </a:prstGeom>
          </p:spPr>
        </p:pic>
        <p:sp>
          <p:nvSpPr>
            <p:cNvPr id="67" name="service-label:evaluation">
              <a:extLst>
                <a:ext uri="{FF2B5EF4-FFF2-40B4-BE49-F238E27FC236}">
                  <a16:creationId xmlns:a16="http://schemas.microsoft.com/office/drawing/2014/main" id="{4E5CE959-A6DC-9281-3EFE-DF266C957781}"/>
                </a:ext>
              </a:extLst>
            </p:cNvPr>
            <p:cNvSpPr txBox="1"/>
            <p:nvPr/>
          </p:nvSpPr>
          <p:spPr>
            <a:xfrm>
              <a:off x="4953000" y="8286750"/>
              <a:ext cx="30480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en-US" altLang="ja-JP" sz="1350">
                  <a:solidFill>
                    <a:srgbClr val="172B4D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Foundry </a:t>
              </a:r>
              <a:r>
                <a:rPr kumimoji="1" lang="ja-JP" altLang="en-US" sz="1350">
                  <a:solidFill>
                    <a:srgbClr val="172B4D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評価教材を準備</a:t>
              </a:r>
            </a:p>
          </p:txBody>
        </p:sp>
        <p:sp>
          <p:nvSpPr>
            <p:cNvPr id="68" name="service-detail:evaluation">
              <a:extLst>
                <a:ext uri="{FF2B5EF4-FFF2-40B4-BE49-F238E27FC236}">
                  <a16:creationId xmlns:a16="http://schemas.microsoft.com/office/drawing/2014/main" id="{7F9908B2-92C4-1F1D-69F5-E911F3EA3C89}"/>
                </a:ext>
              </a:extLst>
            </p:cNvPr>
            <p:cNvSpPr txBox="1"/>
            <p:nvPr/>
          </p:nvSpPr>
          <p:spPr>
            <a:xfrm>
              <a:off x="4953000" y="8543925"/>
              <a:ext cx="3048000" cy="6000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2 datasets / </a:t>
              </a:r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共通 </a:t>
              </a:r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rubric </a:t>
              </a:r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を登録
</a:t>
              </a:r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--prepare-only / </a:t>
              </a:r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ジョブ実行なし</a:t>
              </a:r>
            </a:p>
          </p:txBody>
        </p:sp>
      </p:grpSp>
      <p:grpSp>
        <p:nvGrpSpPr>
          <p:cNvPr id="76" name="service:validation" descr="service;parent=template-internal">
            <a:extLst>
              <a:ext uri="{FF2B5EF4-FFF2-40B4-BE49-F238E27FC236}">
                <a16:creationId xmlns:a16="http://schemas.microsoft.com/office/drawing/2014/main" id="{8D9AB8E9-7569-11B6-07E7-0F678C160CA9}"/>
              </a:ext>
            </a:extLst>
          </p:cNvPr>
          <p:cNvGrpSpPr/>
          <p:nvPr/>
        </p:nvGrpSpPr>
        <p:grpSpPr>
          <a:xfrm>
            <a:off x="8991600" y="7772400"/>
            <a:ext cx="3048000" cy="1371600"/>
            <a:chOff x="8991600" y="7772400"/>
            <a:chExt cx="3048000" cy="1371600"/>
          </a:xfrm>
        </p:grpSpPr>
        <p:sp>
          <p:nvSpPr>
            <p:cNvPr id="70" name="service-anchor:validation">
              <a:extLst>
                <a:ext uri="{FF2B5EF4-FFF2-40B4-BE49-F238E27FC236}">
                  <a16:creationId xmlns:a16="http://schemas.microsoft.com/office/drawing/2014/main" id="{F5451D02-2602-629A-DB7C-4B8D348D2097}"/>
                </a:ext>
              </a:extLst>
            </p:cNvPr>
            <p:cNvSpPr/>
            <p:nvPr/>
          </p:nvSpPr>
          <p:spPr>
            <a:xfrm>
              <a:off x="8991600" y="7772400"/>
              <a:ext cx="3048000" cy="13716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generic-symbol:validation:component">
              <a:extLst>
                <a:ext uri="{FF2B5EF4-FFF2-40B4-BE49-F238E27FC236}">
                  <a16:creationId xmlns:a16="http://schemas.microsoft.com/office/drawing/2014/main" id="{DBC1AC4A-79AA-D102-48DC-C48AEAB9E2B8}"/>
                </a:ext>
              </a:extLst>
            </p:cNvPr>
            <p:cNvSpPr/>
            <p:nvPr/>
          </p:nvSpPr>
          <p:spPr>
            <a:xfrm>
              <a:off x="10287000" y="7810500"/>
              <a:ext cx="457200" cy="381000"/>
            </a:xfrm>
            <a:prstGeom prst="roundRect">
              <a:avLst/>
            </a:prstGeom>
            <a:solidFill>
              <a:srgbClr val="E7EEF5"/>
            </a:solidFill>
            <a:ln w="10477">
              <a:solidFill>
                <a:srgbClr val="52657A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generic-symbol:validation:row-1">
              <a:extLst>
                <a:ext uri="{FF2B5EF4-FFF2-40B4-BE49-F238E27FC236}">
                  <a16:creationId xmlns:a16="http://schemas.microsoft.com/office/drawing/2014/main" id="{319DBF08-D93F-0705-CD2A-77E1D483731C}"/>
                </a:ext>
              </a:extLst>
            </p:cNvPr>
            <p:cNvSpPr/>
            <p:nvPr/>
          </p:nvSpPr>
          <p:spPr>
            <a:xfrm>
              <a:off x="10391775" y="7924800"/>
              <a:ext cx="247650" cy="19050"/>
            </a:xfrm>
            <a:prstGeom prst="rect">
              <a:avLst/>
            </a:prstGeom>
            <a:solidFill>
              <a:srgbClr val="FFFFFF"/>
            </a:solidFill>
            <a:ln w="10477">
              <a:solidFill>
                <a:srgbClr val="52657A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3" name="generic-symbol:validation:row-2">
              <a:extLst>
                <a:ext uri="{FF2B5EF4-FFF2-40B4-BE49-F238E27FC236}">
                  <a16:creationId xmlns:a16="http://schemas.microsoft.com/office/drawing/2014/main" id="{A0AB4CD5-C3CD-7764-D3E9-6192EE462335}"/>
                </a:ext>
              </a:extLst>
            </p:cNvPr>
            <p:cNvSpPr/>
            <p:nvPr/>
          </p:nvSpPr>
          <p:spPr>
            <a:xfrm>
              <a:off x="10391775" y="8039100"/>
              <a:ext cx="247650" cy="19050"/>
            </a:xfrm>
            <a:prstGeom prst="rect">
              <a:avLst/>
            </a:prstGeom>
            <a:solidFill>
              <a:srgbClr val="FFFFFF"/>
            </a:solidFill>
            <a:ln w="10477">
              <a:solidFill>
                <a:srgbClr val="52657A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" name="service-label:validation">
              <a:extLst>
                <a:ext uri="{FF2B5EF4-FFF2-40B4-BE49-F238E27FC236}">
                  <a16:creationId xmlns:a16="http://schemas.microsoft.com/office/drawing/2014/main" id="{4CB5BE95-AF8B-FAC4-0509-C227511C2A3C}"/>
                </a:ext>
              </a:extLst>
            </p:cNvPr>
            <p:cNvSpPr txBox="1"/>
            <p:nvPr/>
          </p:nvSpPr>
          <p:spPr>
            <a:xfrm>
              <a:off x="8991600" y="8286750"/>
              <a:ext cx="30480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ja-JP" altLang="en-US" sz="1350">
                  <a:solidFill>
                    <a:srgbClr val="172B4D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環境・権限を検証</a:t>
              </a:r>
            </a:p>
          </p:txBody>
        </p:sp>
        <p:sp>
          <p:nvSpPr>
            <p:cNvPr id="75" name="service-detail:validation">
              <a:extLst>
                <a:ext uri="{FF2B5EF4-FFF2-40B4-BE49-F238E27FC236}">
                  <a16:creationId xmlns:a16="http://schemas.microsoft.com/office/drawing/2014/main" id="{308AE517-65DA-B2CA-CCF1-E8DCBF504ECD}"/>
                </a:ext>
              </a:extLst>
            </p:cNvPr>
            <p:cNvSpPr txBox="1"/>
            <p:nvPr/>
          </p:nvSpPr>
          <p:spPr>
            <a:xfrm>
              <a:off x="8991600" y="8543925"/>
              <a:ext cx="3048000" cy="6000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主要リソース </a:t>
              </a:r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/ Foundry User
API health / Search </a:t>
              </a:r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スキーマ・件数</a:t>
              </a:r>
            </a:p>
          </p:txBody>
        </p:sp>
      </p:grpSp>
      <p:grpSp>
        <p:nvGrpSpPr>
          <p:cNvPr id="83" name="service:outputs" descr="service;parent=template-internal">
            <a:extLst>
              <a:ext uri="{FF2B5EF4-FFF2-40B4-BE49-F238E27FC236}">
                <a16:creationId xmlns:a16="http://schemas.microsoft.com/office/drawing/2014/main" id="{1450AC76-1B42-B85E-3C6C-DD0A8B9B29BB}"/>
              </a:ext>
            </a:extLst>
          </p:cNvPr>
          <p:cNvGrpSpPr/>
          <p:nvPr/>
        </p:nvGrpSpPr>
        <p:grpSpPr>
          <a:xfrm>
            <a:off x="13030200" y="7772400"/>
            <a:ext cx="3048000" cy="1371600"/>
            <a:chOff x="13030200" y="7772400"/>
            <a:chExt cx="3048000" cy="1371600"/>
          </a:xfrm>
        </p:grpSpPr>
        <p:sp>
          <p:nvSpPr>
            <p:cNvPr id="77" name="service-anchor:outputs">
              <a:extLst>
                <a:ext uri="{FF2B5EF4-FFF2-40B4-BE49-F238E27FC236}">
                  <a16:creationId xmlns:a16="http://schemas.microsoft.com/office/drawing/2014/main" id="{71F0FB2E-F26B-C307-0B40-61EF640BEB4A}"/>
                </a:ext>
              </a:extLst>
            </p:cNvPr>
            <p:cNvSpPr/>
            <p:nvPr/>
          </p:nvSpPr>
          <p:spPr>
            <a:xfrm>
              <a:off x="13030200" y="7772400"/>
              <a:ext cx="3048000" cy="13716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" name="generic-symbol:outputs:left">
              <a:extLst>
                <a:ext uri="{FF2B5EF4-FFF2-40B4-BE49-F238E27FC236}">
                  <a16:creationId xmlns:a16="http://schemas.microsoft.com/office/drawing/2014/main" id="{84851A4E-45A2-CD94-63AE-42EFC6588030}"/>
                </a:ext>
              </a:extLst>
            </p:cNvPr>
            <p:cNvSpPr/>
            <p:nvPr/>
          </p:nvSpPr>
          <p:spPr>
            <a:xfrm>
              <a:off x="14325600" y="7886700"/>
              <a:ext cx="114300" cy="228600"/>
            </a:xfrm>
            <a:prstGeom prst="rect">
              <a:avLst/>
            </a:prstGeom>
            <a:solidFill>
              <a:srgbClr val="E7EEF5"/>
            </a:solidFill>
            <a:ln w="10477">
              <a:solidFill>
                <a:srgbClr val="52657A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" name="generic-symbol:outputs:link">
              <a:extLst>
                <a:ext uri="{FF2B5EF4-FFF2-40B4-BE49-F238E27FC236}">
                  <a16:creationId xmlns:a16="http://schemas.microsoft.com/office/drawing/2014/main" id="{D9E03BF4-66B1-AAD9-0AA4-9D953A4A1A00}"/>
                </a:ext>
              </a:extLst>
            </p:cNvPr>
            <p:cNvSpPr/>
            <p:nvPr/>
          </p:nvSpPr>
          <p:spPr>
            <a:xfrm>
              <a:off x="14439900" y="7981950"/>
              <a:ext cx="228600" cy="38100"/>
            </a:xfrm>
            <a:prstGeom prst="rect">
              <a:avLst/>
            </a:prstGeom>
            <a:solidFill>
              <a:srgbClr val="E7EEF5"/>
            </a:solidFill>
            <a:ln w="10477">
              <a:solidFill>
                <a:srgbClr val="52657A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" name="generic-symbol:outputs:right">
              <a:extLst>
                <a:ext uri="{FF2B5EF4-FFF2-40B4-BE49-F238E27FC236}">
                  <a16:creationId xmlns:a16="http://schemas.microsoft.com/office/drawing/2014/main" id="{9FAD0887-3AE3-BC80-0511-86F64514D0D4}"/>
                </a:ext>
              </a:extLst>
            </p:cNvPr>
            <p:cNvSpPr/>
            <p:nvPr/>
          </p:nvSpPr>
          <p:spPr>
            <a:xfrm>
              <a:off x="14668500" y="7886700"/>
              <a:ext cx="114300" cy="228600"/>
            </a:xfrm>
            <a:prstGeom prst="rect">
              <a:avLst/>
            </a:prstGeom>
            <a:solidFill>
              <a:srgbClr val="E7EEF5"/>
            </a:solidFill>
            <a:ln w="10477">
              <a:solidFill>
                <a:srgbClr val="52657A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" name="service-label:outputs">
              <a:extLst>
                <a:ext uri="{FF2B5EF4-FFF2-40B4-BE49-F238E27FC236}">
                  <a16:creationId xmlns:a16="http://schemas.microsoft.com/office/drawing/2014/main" id="{B512B44D-19B8-EE1E-FF27-CB6A8B392CDA}"/>
                </a:ext>
              </a:extLst>
            </p:cNvPr>
            <p:cNvSpPr txBox="1"/>
            <p:nvPr/>
          </p:nvSpPr>
          <p:spPr>
            <a:xfrm>
              <a:off x="13030200" y="8286750"/>
              <a:ext cx="3048000" cy="228600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en-US" altLang="ja-JP" sz="1350">
                  <a:solidFill>
                    <a:srgbClr val="172B4D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ARM Outputs </a:t>
              </a:r>
              <a:r>
                <a:rPr kumimoji="1" lang="ja-JP" altLang="en-US" sz="1350">
                  <a:solidFill>
                    <a:srgbClr val="172B4D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を返す</a:t>
              </a:r>
            </a:p>
          </p:txBody>
        </p:sp>
        <p:sp>
          <p:nvSpPr>
            <p:cNvPr id="82" name="service-detail:outputs">
              <a:extLst>
                <a:ext uri="{FF2B5EF4-FFF2-40B4-BE49-F238E27FC236}">
                  <a16:creationId xmlns:a16="http://schemas.microsoft.com/office/drawing/2014/main" id="{B962C716-AAB8-7C3D-13AF-D2003152526B}"/>
                </a:ext>
              </a:extLst>
            </p:cNvPr>
            <p:cNvSpPr txBox="1"/>
            <p:nvPr/>
          </p:nvSpPr>
          <p:spPr>
            <a:xfrm>
              <a:off x="13030200" y="8543925"/>
              <a:ext cx="3048000" cy="600075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noAutofit/>
            </a:bodyPr>
            <a:lstStyle/>
            <a:p>
              <a:pPr algn="ctr"/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全段階成功後にだけ </a:t>
              </a:r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complete
</a:t>
              </a:r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接続情報と </a:t>
              </a:r>
              <a:r>
                <a:rPr kumimoji="1" lang="en-US" altLang="ja-JP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URL / </a:t>
              </a:r>
              <a:r>
                <a:rPr kumimoji="1" lang="ja-JP" altLang="en-US" sz="1050">
                  <a:solidFill>
                    <a:srgbClr val="52657A"/>
                  </a:solidFill>
                  <a:latin typeface="Segoe UI" panose="020B0502040204020203" pitchFamily="34" charset="0"/>
                  <a:ea typeface="Yu Gothic" panose="020B0400000000000000" pitchFamily="50" charset="-128"/>
                </a:rPr>
                <a:t>秘密を含まない</a:t>
              </a:r>
            </a:p>
          </p:txBody>
        </p:sp>
      </p:grpSp>
      <p:cxnSp>
        <p:nvCxnSpPr>
          <p:cNvPr id="84" name="flow:rg-load:0">
            <a:extLst>
              <a:ext uri="{FF2B5EF4-FFF2-40B4-BE49-F238E27FC236}">
                <a16:creationId xmlns:a16="http://schemas.microsoft.com/office/drawing/2014/main" id="{6A0A5C7A-AA14-86F9-2163-C22292ED7515}"/>
              </a:ext>
            </a:extLst>
          </p:cNvPr>
          <p:cNvCxnSpPr>
            <a:cxnSpLocks/>
            <a:stCxn id="6" idx="3"/>
            <a:endCxn id="12" idx="1"/>
          </p:cNvCxnSpPr>
          <p:nvPr/>
        </p:nvCxnSpPr>
        <p:spPr>
          <a:xfrm>
            <a:off x="3429000" y="2819400"/>
            <a:ext cx="1295400" cy="0"/>
          </a:xfrm>
          <a:prstGeom prst="straightConnector1">
            <a:avLst/>
          </a:prstGeom>
          <a:ln w="17145">
            <a:solidFill>
              <a:srgbClr val="64748B"/>
            </a:solidFill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flow:load-start:0">
            <a:extLst>
              <a:ext uri="{FF2B5EF4-FFF2-40B4-BE49-F238E27FC236}">
                <a16:creationId xmlns:a16="http://schemas.microsoft.com/office/drawing/2014/main" id="{FCA1B9BD-00C4-6B6C-41C7-7DC5C24C87F2}"/>
              </a:ext>
            </a:extLst>
          </p:cNvPr>
          <p:cNvCxnSpPr>
            <a:cxnSpLocks/>
            <a:stCxn id="12" idx="3"/>
            <a:endCxn id="18" idx="1"/>
          </p:cNvCxnSpPr>
          <p:nvPr/>
        </p:nvCxnSpPr>
        <p:spPr>
          <a:xfrm>
            <a:off x="7467600" y="2819400"/>
            <a:ext cx="1295400" cy="0"/>
          </a:xfrm>
          <a:prstGeom prst="straightConnector1">
            <a:avLst/>
          </a:prstGeom>
          <a:ln w="17145">
            <a:solidFill>
              <a:srgbClr val="64748B"/>
            </a:solidFill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flow:start-resources:0">
            <a:extLst>
              <a:ext uri="{FF2B5EF4-FFF2-40B4-BE49-F238E27FC236}">
                <a16:creationId xmlns:a16="http://schemas.microsoft.com/office/drawing/2014/main" id="{4D43F989-A188-19FC-A1A4-BF465BD3BB70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10210800" y="3581400"/>
            <a:ext cx="0" cy="609600"/>
          </a:xfrm>
          <a:prstGeom prst="straightConnector1">
            <a:avLst/>
          </a:prstGeom>
          <a:ln w="17145">
            <a:solidFill>
              <a:srgbClr val="64748B"/>
            </a:solidFill>
            <a:prstDash val="dash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flow:start-resources:1">
            <a:extLst>
              <a:ext uri="{FF2B5EF4-FFF2-40B4-BE49-F238E27FC236}">
                <a16:creationId xmlns:a16="http://schemas.microsoft.com/office/drawing/2014/main" id="{2736C371-7F07-28D3-0765-18F1569A0DA7}"/>
              </a:ext>
            </a:extLst>
          </p:cNvPr>
          <p:cNvCxnSpPr/>
          <p:nvPr/>
        </p:nvCxnSpPr>
        <p:spPr>
          <a:xfrm flipH="1">
            <a:off x="4191000" y="4191000"/>
            <a:ext cx="6019800" cy="0"/>
          </a:xfrm>
          <a:prstGeom prst="straightConnector1">
            <a:avLst/>
          </a:prstGeom>
          <a:ln w="17145">
            <a:solidFill>
              <a:srgbClr val="64748B"/>
            </a:solidFill>
            <a:prstDash val="dash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flow:start-resources:2">
            <a:extLst>
              <a:ext uri="{FF2B5EF4-FFF2-40B4-BE49-F238E27FC236}">
                <a16:creationId xmlns:a16="http://schemas.microsoft.com/office/drawing/2014/main" id="{E95A08CA-61BC-3234-44E4-A274BEB0CAEA}"/>
              </a:ext>
            </a:extLst>
          </p:cNvPr>
          <p:cNvCxnSpPr/>
          <p:nvPr/>
        </p:nvCxnSpPr>
        <p:spPr>
          <a:xfrm>
            <a:off x="4191000" y="4191000"/>
            <a:ext cx="0" cy="914400"/>
          </a:xfrm>
          <a:prstGeom prst="straightConnector1">
            <a:avLst/>
          </a:prstGeom>
          <a:ln w="17145">
            <a:solidFill>
              <a:srgbClr val="64748B"/>
            </a:solidFill>
            <a:prstDash val="dash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flow:start-resources:3">
            <a:extLst>
              <a:ext uri="{FF2B5EF4-FFF2-40B4-BE49-F238E27FC236}">
                <a16:creationId xmlns:a16="http://schemas.microsoft.com/office/drawing/2014/main" id="{7B21EDB3-8F85-1DBA-065D-EC90B12D62BA}"/>
              </a:ext>
            </a:extLst>
          </p:cNvPr>
          <p:cNvCxnSpPr/>
          <p:nvPr/>
        </p:nvCxnSpPr>
        <p:spPr>
          <a:xfrm flipH="1">
            <a:off x="2438400" y="5105400"/>
            <a:ext cx="1752600" cy="0"/>
          </a:xfrm>
          <a:prstGeom prst="straightConnector1">
            <a:avLst/>
          </a:prstGeom>
          <a:ln w="17145">
            <a:solidFill>
              <a:srgbClr val="64748B"/>
            </a:solidFill>
            <a:prstDash val="dash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flow:start-resources:4">
            <a:extLst>
              <a:ext uri="{FF2B5EF4-FFF2-40B4-BE49-F238E27FC236}">
                <a16:creationId xmlns:a16="http://schemas.microsoft.com/office/drawing/2014/main" id="{98877CAE-26DC-51AB-C97F-CFE5FEB48711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2438400" y="5105400"/>
            <a:ext cx="0" cy="304800"/>
          </a:xfrm>
          <a:prstGeom prst="straightConnector1">
            <a:avLst/>
          </a:prstGeom>
          <a:ln w="17145">
            <a:solidFill>
              <a:srgbClr val="64748B"/>
            </a:solidFill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flow-label:start-resources">
            <a:extLst>
              <a:ext uri="{FF2B5EF4-FFF2-40B4-BE49-F238E27FC236}">
                <a16:creationId xmlns:a16="http://schemas.microsoft.com/office/drawing/2014/main" id="{39D45B67-0A24-7D73-38EE-F51D2450A017}"/>
              </a:ext>
            </a:extLst>
          </p:cNvPr>
          <p:cNvSpPr txBox="1"/>
          <p:nvPr/>
        </p:nvSpPr>
        <p:spPr>
          <a:xfrm>
            <a:off x="6370320" y="3905250"/>
            <a:ext cx="1219200" cy="228600"/>
          </a:xfrm>
          <a:prstGeom prst="rect">
            <a:avLst/>
          </a:prstGeom>
          <a:solidFill>
            <a:srgbClr val="FFFFFF"/>
          </a:solidFill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kumimoji="1" lang="ja-JP" altLang="en-US" sz="1050">
                <a:solidFill>
                  <a:srgbClr val="64748B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デプロイを開始</a:t>
            </a:r>
          </a:p>
        </p:txBody>
      </p:sp>
      <p:cxnSp>
        <p:nvCxnSpPr>
          <p:cNvPr id="92" name="flow:resource-dependencies:0">
            <a:extLst>
              <a:ext uri="{FF2B5EF4-FFF2-40B4-BE49-F238E27FC236}">
                <a16:creationId xmlns:a16="http://schemas.microsoft.com/office/drawing/2014/main" id="{07EEA94A-E28A-B383-5E53-D98D7716A0BF}"/>
              </a:ext>
            </a:extLst>
          </p:cNvPr>
          <p:cNvCxnSpPr>
            <a:cxnSpLocks/>
            <a:stCxn id="30" idx="3"/>
            <a:endCxn id="37" idx="1"/>
          </p:cNvCxnSpPr>
          <p:nvPr/>
        </p:nvCxnSpPr>
        <p:spPr>
          <a:xfrm>
            <a:off x="3962400" y="6096000"/>
            <a:ext cx="990600" cy="0"/>
          </a:xfrm>
          <a:prstGeom prst="straightConnector1">
            <a:avLst/>
          </a:prstGeom>
          <a:ln w="17145" cap="rnd">
            <a:solidFill>
              <a:srgbClr val="7C3AED"/>
            </a:solidFill>
            <a:prstDash val="dot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flow-label:resource-dependencies">
            <a:extLst>
              <a:ext uri="{FF2B5EF4-FFF2-40B4-BE49-F238E27FC236}">
                <a16:creationId xmlns:a16="http://schemas.microsoft.com/office/drawing/2014/main" id="{C9A542B1-CE8C-7F66-62A5-3A209578490A}"/>
              </a:ext>
            </a:extLst>
          </p:cNvPr>
          <p:cNvSpPr txBox="1"/>
          <p:nvPr/>
        </p:nvSpPr>
        <p:spPr>
          <a:xfrm>
            <a:off x="4076700" y="5791200"/>
            <a:ext cx="762000" cy="228600"/>
          </a:xfrm>
          <a:prstGeom prst="rect">
            <a:avLst/>
          </a:prstGeom>
          <a:solidFill>
            <a:srgbClr val="FFFFFF"/>
          </a:solidFill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kumimoji="1" lang="ja-JP" altLang="en-US" sz="1050">
                <a:solidFill>
                  <a:srgbClr val="7C3AE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依存先</a:t>
            </a:r>
          </a:p>
        </p:txBody>
      </p:sp>
      <p:cxnSp>
        <p:nvCxnSpPr>
          <p:cNvPr id="94" name="flow:connections-bootstrap:0">
            <a:extLst>
              <a:ext uri="{FF2B5EF4-FFF2-40B4-BE49-F238E27FC236}">
                <a16:creationId xmlns:a16="http://schemas.microsoft.com/office/drawing/2014/main" id="{DFE1CB72-A731-B6C0-F736-9853D0C7B70E}"/>
              </a:ext>
            </a:extLst>
          </p:cNvPr>
          <p:cNvCxnSpPr>
            <a:cxnSpLocks/>
            <a:stCxn id="37" idx="3"/>
            <a:endCxn id="44" idx="1"/>
          </p:cNvCxnSpPr>
          <p:nvPr/>
        </p:nvCxnSpPr>
        <p:spPr>
          <a:xfrm>
            <a:off x="8001000" y="6096000"/>
            <a:ext cx="990600" cy="0"/>
          </a:xfrm>
          <a:prstGeom prst="straightConnector1">
            <a:avLst/>
          </a:prstGeom>
          <a:ln w="17145">
            <a:solidFill>
              <a:srgbClr val="64748B"/>
            </a:solidFill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flow-label:connections-bootstrap">
            <a:extLst>
              <a:ext uri="{FF2B5EF4-FFF2-40B4-BE49-F238E27FC236}">
                <a16:creationId xmlns:a16="http://schemas.microsoft.com/office/drawing/2014/main" id="{AA330E77-DF1B-0CEB-F084-1A36F4D9CD4B}"/>
              </a:ext>
            </a:extLst>
          </p:cNvPr>
          <p:cNvSpPr txBox="1"/>
          <p:nvPr/>
        </p:nvSpPr>
        <p:spPr>
          <a:xfrm>
            <a:off x="8115300" y="5791200"/>
            <a:ext cx="762000" cy="228600"/>
          </a:xfrm>
          <a:prstGeom prst="rect">
            <a:avLst/>
          </a:prstGeom>
          <a:solidFill>
            <a:srgbClr val="FFFFFF"/>
          </a:solidFill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kumimoji="1" lang="ja-JP" altLang="en-US" sz="1050">
                <a:solidFill>
                  <a:srgbClr val="64748B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準備完了</a:t>
            </a:r>
          </a:p>
        </p:txBody>
      </p:sp>
      <p:cxnSp>
        <p:nvCxnSpPr>
          <p:cNvPr id="96" name="flow:bootstrap-source:0">
            <a:extLst>
              <a:ext uri="{FF2B5EF4-FFF2-40B4-BE49-F238E27FC236}">
                <a16:creationId xmlns:a16="http://schemas.microsoft.com/office/drawing/2014/main" id="{D8155E6F-3D65-2EC1-442F-B5031813A68B}"/>
              </a:ext>
            </a:extLst>
          </p:cNvPr>
          <p:cNvCxnSpPr>
            <a:cxnSpLocks/>
            <a:stCxn id="44" idx="3"/>
            <a:endCxn id="51" idx="1"/>
          </p:cNvCxnSpPr>
          <p:nvPr/>
        </p:nvCxnSpPr>
        <p:spPr>
          <a:xfrm>
            <a:off x="12039600" y="6096000"/>
            <a:ext cx="990600" cy="0"/>
          </a:xfrm>
          <a:prstGeom prst="straightConnector1">
            <a:avLst/>
          </a:prstGeom>
          <a:ln w="17145">
            <a:solidFill>
              <a:srgbClr val="64748B"/>
            </a:solidFill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flow:source-seed:0">
            <a:extLst>
              <a:ext uri="{FF2B5EF4-FFF2-40B4-BE49-F238E27FC236}">
                <a16:creationId xmlns:a16="http://schemas.microsoft.com/office/drawing/2014/main" id="{78DEEB65-5A8C-C1C0-7857-CE2B92391E01}"/>
              </a:ext>
            </a:extLst>
          </p:cNvPr>
          <p:cNvCxnSpPr>
            <a:cxnSpLocks/>
            <a:stCxn id="51" idx="2"/>
          </p:cNvCxnSpPr>
          <p:nvPr/>
        </p:nvCxnSpPr>
        <p:spPr>
          <a:xfrm>
            <a:off x="14554200" y="6781800"/>
            <a:ext cx="0" cy="457200"/>
          </a:xfrm>
          <a:prstGeom prst="straightConnector1">
            <a:avLst/>
          </a:prstGeom>
          <a:ln w="17145">
            <a:solidFill>
              <a:srgbClr val="64748B"/>
            </a:solidFill>
            <a:prstDash val="dash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flow:source-seed:1">
            <a:extLst>
              <a:ext uri="{FF2B5EF4-FFF2-40B4-BE49-F238E27FC236}">
                <a16:creationId xmlns:a16="http://schemas.microsoft.com/office/drawing/2014/main" id="{C95722E7-1A9C-E5C1-B173-A431324EEFAF}"/>
              </a:ext>
            </a:extLst>
          </p:cNvPr>
          <p:cNvCxnSpPr/>
          <p:nvPr/>
        </p:nvCxnSpPr>
        <p:spPr>
          <a:xfrm flipH="1">
            <a:off x="2438400" y="7239000"/>
            <a:ext cx="12115800" cy="0"/>
          </a:xfrm>
          <a:prstGeom prst="straightConnector1">
            <a:avLst/>
          </a:prstGeom>
          <a:ln w="17145">
            <a:solidFill>
              <a:srgbClr val="64748B"/>
            </a:solidFill>
            <a:prstDash val="dash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flow:source-seed:2">
            <a:extLst>
              <a:ext uri="{FF2B5EF4-FFF2-40B4-BE49-F238E27FC236}">
                <a16:creationId xmlns:a16="http://schemas.microsoft.com/office/drawing/2014/main" id="{D4B1047E-F4DF-60F0-4F84-3B33F528FF83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2438400" y="7239000"/>
            <a:ext cx="0" cy="533400"/>
          </a:xfrm>
          <a:prstGeom prst="straightConnector1">
            <a:avLst/>
          </a:prstGeom>
          <a:ln w="17145">
            <a:solidFill>
              <a:srgbClr val="64748B"/>
            </a:solidFill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flow-label:source-seed">
            <a:extLst>
              <a:ext uri="{FF2B5EF4-FFF2-40B4-BE49-F238E27FC236}">
                <a16:creationId xmlns:a16="http://schemas.microsoft.com/office/drawing/2014/main" id="{5E833556-E65B-0601-5DD4-F66365EC1CEF}"/>
              </a:ext>
            </a:extLst>
          </p:cNvPr>
          <p:cNvSpPr txBox="1"/>
          <p:nvPr/>
        </p:nvSpPr>
        <p:spPr>
          <a:xfrm>
            <a:off x="7620000" y="6953250"/>
            <a:ext cx="1676400" cy="228600"/>
          </a:xfrm>
          <a:prstGeom prst="rect">
            <a:avLst/>
          </a:prstGeom>
          <a:solidFill>
            <a:srgbClr val="FFFFFF"/>
          </a:solidFill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kumimoji="1" lang="ja-JP" altLang="en-US" sz="1050">
                <a:solidFill>
                  <a:srgbClr val="64748B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初期化処理を順に実行</a:t>
            </a:r>
          </a:p>
        </p:txBody>
      </p:sp>
      <p:cxnSp>
        <p:nvCxnSpPr>
          <p:cNvPr id="101" name="flow:seed-evaluation:0">
            <a:extLst>
              <a:ext uri="{FF2B5EF4-FFF2-40B4-BE49-F238E27FC236}">
                <a16:creationId xmlns:a16="http://schemas.microsoft.com/office/drawing/2014/main" id="{3EEF0E3E-EC44-DEA4-4DD0-3A69729EC4E8}"/>
              </a:ext>
            </a:extLst>
          </p:cNvPr>
          <p:cNvCxnSpPr>
            <a:cxnSpLocks/>
            <a:stCxn id="58" idx="3"/>
            <a:endCxn id="64" idx="1"/>
          </p:cNvCxnSpPr>
          <p:nvPr/>
        </p:nvCxnSpPr>
        <p:spPr>
          <a:xfrm>
            <a:off x="3962400" y="8458200"/>
            <a:ext cx="990600" cy="0"/>
          </a:xfrm>
          <a:prstGeom prst="straightConnector1">
            <a:avLst/>
          </a:prstGeom>
          <a:ln w="17145">
            <a:solidFill>
              <a:srgbClr val="64748B"/>
            </a:solidFill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flow:evaluation-validation:0">
            <a:extLst>
              <a:ext uri="{FF2B5EF4-FFF2-40B4-BE49-F238E27FC236}">
                <a16:creationId xmlns:a16="http://schemas.microsoft.com/office/drawing/2014/main" id="{50238544-4D11-90B5-F0AD-ABCEC3EF6604}"/>
              </a:ext>
            </a:extLst>
          </p:cNvPr>
          <p:cNvCxnSpPr>
            <a:cxnSpLocks/>
            <a:stCxn id="64" idx="3"/>
            <a:endCxn id="70" idx="1"/>
          </p:cNvCxnSpPr>
          <p:nvPr/>
        </p:nvCxnSpPr>
        <p:spPr>
          <a:xfrm>
            <a:off x="8001000" y="8458200"/>
            <a:ext cx="990600" cy="0"/>
          </a:xfrm>
          <a:prstGeom prst="straightConnector1">
            <a:avLst/>
          </a:prstGeom>
          <a:ln w="17145">
            <a:solidFill>
              <a:srgbClr val="64748B"/>
            </a:solidFill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flow:validation-outputs:0">
            <a:extLst>
              <a:ext uri="{FF2B5EF4-FFF2-40B4-BE49-F238E27FC236}">
                <a16:creationId xmlns:a16="http://schemas.microsoft.com/office/drawing/2014/main" id="{5C390710-D7E5-EAA2-E26C-778B44140974}"/>
              </a:ext>
            </a:extLst>
          </p:cNvPr>
          <p:cNvCxnSpPr>
            <a:cxnSpLocks/>
            <a:stCxn id="70" idx="3"/>
            <a:endCxn id="77" idx="1"/>
          </p:cNvCxnSpPr>
          <p:nvPr/>
        </p:nvCxnSpPr>
        <p:spPr>
          <a:xfrm>
            <a:off x="12039600" y="8458200"/>
            <a:ext cx="990600" cy="0"/>
          </a:xfrm>
          <a:prstGeom prst="straightConnector1">
            <a:avLst/>
          </a:prstGeom>
          <a:ln w="17145">
            <a:solidFill>
              <a:srgbClr val="64748B"/>
            </a:solidFill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flow-label:validation-outputs">
            <a:extLst>
              <a:ext uri="{FF2B5EF4-FFF2-40B4-BE49-F238E27FC236}">
                <a16:creationId xmlns:a16="http://schemas.microsoft.com/office/drawing/2014/main" id="{8EC21FD1-C70C-8AA6-E2AB-EEE9AE811549}"/>
              </a:ext>
            </a:extLst>
          </p:cNvPr>
          <p:cNvSpPr txBox="1"/>
          <p:nvPr/>
        </p:nvSpPr>
        <p:spPr>
          <a:xfrm>
            <a:off x="12115800" y="8153400"/>
            <a:ext cx="838200" cy="228600"/>
          </a:xfrm>
          <a:prstGeom prst="rect">
            <a:avLst/>
          </a:prstGeom>
          <a:solidFill>
            <a:srgbClr val="FFFFFF"/>
          </a:solidFill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kumimoji="1" lang="ja-JP" altLang="en-US" sz="1050">
                <a:solidFill>
                  <a:srgbClr val="64748B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全て </a:t>
            </a:r>
            <a:r>
              <a:rPr kumimoji="1" lang="en-US" altLang="ja-JP" sz="1050">
                <a:solidFill>
                  <a:srgbClr val="64748B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pass</a:t>
            </a:r>
            <a:endParaRPr kumimoji="1" lang="ja-JP" altLang="en-US" sz="1050">
              <a:solidFill>
                <a:srgbClr val="64748B"/>
              </a:solidFill>
              <a:latin typeface="Segoe UI" panose="020B0502040204020203" pitchFamily="34" charset="0"/>
              <a:ea typeface="Yu Gothic" panose="020B0400000000000000" pitchFamily="50" charset="-128"/>
            </a:endParaRPr>
          </a:p>
        </p:txBody>
      </p:sp>
      <p:cxnSp>
        <p:nvCxnSpPr>
          <p:cNvPr id="105" name="flow:outputs-confirm:0">
            <a:extLst>
              <a:ext uri="{FF2B5EF4-FFF2-40B4-BE49-F238E27FC236}">
                <a16:creationId xmlns:a16="http://schemas.microsoft.com/office/drawing/2014/main" id="{CF96991F-032B-F9AD-8D77-5B6BCF0208E0}"/>
              </a:ext>
            </a:extLst>
          </p:cNvPr>
          <p:cNvCxnSpPr>
            <a:cxnSpLocks/>
            <a:stCxn id="77" idx="3"/>
          </p:cNvCxnSpPr>
          <p:nvPr/>
        </p:nvCxnSpPr>
        <p:spPr>
          <a:xfrm>
            <a:off x="16078200" y="8458200"/>
            <a:ext cx="228600" cy="0"/>
          </a:xfrm>
          <a:prstGeom prst="straightConnector1">
            <a:avLst/>
          </a:prstGeom>
          <a:ln w="17145">
            <a:solidFill>
              <a:srgbClr val="64748B"/>
            </a:solidFill>
            <a:prstDash val="dash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flow:outputs-confirm:1">
            <a:extLst>
              <a:ext uri="{FF2B5EF4-FFF2-40B4-BE49-F238E27FC236}">
                <a16:creationId xmlns:a16="http://schemas.microsoft.com/office/drawing/2014/main" id="{DF49347B-4C83-F761-C8A2-747A9A29C425}"/>
              </a:ext>
            </a:extLst>
          </p:cNvPr>
          <p:cNvCxnSpPr/>
          <p:nvPr/>
        </p:nvCxnSpPr>
        <p:spPr>
          <a:xfrm flipV="1">
            <a:off x="16306800" y="2819400"/>
            <a:ext cx="0" cy="5638800"/>
          </a:xfrm>
          <a:prstGeom prst="straightConnector1">
            <a:avLst/>
          </a:prstGeom>
          <a:ln w="17145">
            <a:solidFill>
              <a:srgbClr val="64748B"/>
            </a:solidFill>
            <a:prstDash val="dash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flow:outputs-confirm:2">
            <a:extLst>
              <a:ext uri="{FF2B5EF4-FFF2-40B4-BE49-F238E27FC236}">
                <a16:creationId xmlns:a16="http://schemas.microsoft.com/office/drawing/2014/main" id="{DBC846A7-EC86-F088-D2E6-6F5E5B2B38A3}"/>
              </a:ext>
            </a:extLst>
          </p:cNvPr>
          <p:cNvCxnSpPr>
            <a:cxnSpLocks/>
            <a:endCxn id="24" idx="3"/>
          </p:cNvCxnSpPr>
          <p:nvPr/>
        </p:nvCxnSpPr>
        <p:spPr>
          <a:xfrm flipH="1">
            <a:off x="16078200" y="2819400"/>
            <a:ext cx="228600" cy="0"/>
          </a:xfrm>
          <a:prstGeom prst="straightConnector1">
            <a:avLst/>
          </a:prstGeom>
          <a:ln w="17145">
            <a:solidFill>
              <a:srgbClr val="64748B"/>
            </a:solidFill>
            <a:prstDash val="dash"/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note:cleanup-note">
            <a:extLst>
              <a:ext uri="{FF2B5EF4-FFF2-40B4-BE49-F238E27FC236}">
                <a16:creationId xmlns:a16="http://schemas.microsoft.com/office/drawing/2014/main" id="{4EF73369-6CEF-42F7-ABFD-4E78CF1E4A35}"/>
              </a:ext>
            </a:extLst>
          </p:cNvPr>
          <p:cNvSpPr txBox="1"/>
          <p:nvPr/>
        </p:nvSpPr>
        <p:spPr>
          <a:xfrm>
            <a:off x="762000" y="9296400"/>
            <a:ext cx="1554480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kumimoji="1" lang="ja-JP" altLang="en-US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補助 </a:t>
            </a:r>
            <a:r>
              <a:rPr kumimoji="1" lang="en-US" altLang="ja-JP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ACI / Storage: </a:t>
            </a:r>
            <a:r>
              <a:rPr kumimoji="1" lang="ja-JP" altLang="en-US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成功時削除・失敗時保持 </a:t>
            </a:r>
            <a:r>
              <a:rPr kumimoji="1" lang="en-US" altLang="ja-JP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1 </a:t>
            </a:r>
            <a:r>
              <a:rPr kumimoji="1" lang="ja-JP" altLang="en-US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日 </a:t>
            </a:r>
            <a:r>
              <a:rPr kumimoji="1" lang="en-US" altLang="ja-JP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| </a:t>
            </a:r>
            <a:r>
              <a:rPr kumimoji="1" lang="ja-JP" altLang="en-US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実行上限 </a:t>
            </a:r>
            <a:r>
              <a:rPr kumimoji="1" lang="en-US" altLang="ja-JP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1 </a:t>
            </a:r>
            <a:r>
              <a:rPr kumimoji="1" lang="ja-JP" altLang="en-US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時間 </a:t>
            </a:r>
            <a:r>
              <a:rPr kumimoji="1" lang="en-US" altLang="ja-JP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| </a:t>
            </a:r>
            <a:r>
              <a:rPr kumimoji="1" lang="ja-JP" altLang="en-US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初期化専用 </a:t>
            </a:r>
            <a:r>
              <a:rPr kumimoji="1" lang="en-US" altLang="ja-JP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UAMI </a:t>
            </a:r>
            <a:r>
              <a:rPr kumimoji="1" lang="ja-JP" altLang="en-US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は </a:t>
            </a:r>
            <a:r>
              <a:rPr kumimoji="1" lang="en-US" altLang="ja-JP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RG </a:t>
            </a:r>
            <a:r>
              <a:rPr kumimoji="1" lang="ja-JP" altLang="en-US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削除まで保持 </a:t>
            </a:r>
            <a:r>
              <a:rPr kumimoji="1" lang="en-US" altLang="ja-JP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| </a:t>
            </a:r>
            <a:r>
              <a:rPr kumimoji="1" lang="ja-JP" altLang="en-US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途中失敗は </a:t>
            </a:r>
            <a:r>
              <a:rPr kumimoji="1" lang="en-US" altLang="ja-JP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complete </a:t>
            </a:r>
            <a:r>
              <a:rPr kumimoji="1" lang="ja-JP" altLang="en-US" sz="1050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を返さない</a:t>
            </a:r>
          </a:p>
        </p:txBody>
      </p:sp>
      <p:sp>
        <p:nvSpPr>
          <p:cNvPr id="109" name="title">
            <a:extLst>
              <a:ext uri="{FF2B5EF4-FFF2-40B4-BE49-F238E27FC236}">
                <a16:creationId xmlns:a16="http://schemas.microsoft.com/office/drawing/2014/main" id="{79C42AB3-149E-8969-C133-4C0E0482A82F}"/>
              </a:ext>
            </a:extLst>
          </p:cNvPr>
          <p:cNvSpPr txBox="1"/>
          <p:nvPr/>
        </p:nvSpPr>
        <p:spPr>
          <a:xfrm>
            <a:off x="457200" y="238125"/>
            <a:ext cx="16230600" cy="428625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kumimoji="1" lang="ja-JP" altLang="en-US" sz="2400" b="1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参加者の操作とカスタムテンプレートの内部処理</a:t>
            </a:r>
          </a:p>
        </p:txBody>
      </p:sp>
      <p:sp>
        <p:nvSpPr>
          <p:cNvPr id="110" name="subtitle">
            <a:extLst>
              <a:ext uri="{FF2B5EF4-FFF2-40B4-BE49-F238E27FC236}">
                <a16:creationId xmlns:a16="http://schemas.microsoft.com/office/drawing/2014/main" id="{CAB362A6-98F8-260D-C3AA-7303B03A738E}"/>
              </a:ext>
            </a:extLst>
          </p:cNvPr>
          <p:cNvSpPr txBox="1"/>
          <p:nvPr/>
        </p:nvSpPr>
        <p:spPr>
          <a:xfrm>
            <a:off x="457200" y="733425"/>
            <a:ext cx="16230600" cy="3048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kumimoji="1" lang="en-US" altLang="ja-JP" sz="1200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2 / 2  </a:t>
            </a:r>
            <a:r>
              <a:rPr kumimoji="1" lang="ja-JP" altLang="en-US" sz="1200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参加者は </a:t>
            </a:r>
            <a:r>
              <a:rPr kumimoji="1" lang="en-US" altLang="ja-JP" sz="1200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Azure Portal </a:t>
            </a:r>
            <a:r>
              <a:rPr kumimoji="1" lang="ja-JP" altLang="en-US" sz="1200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で開始・完了確認 </a:t>
            </a:r>
            <a:r>
              <a:rPr kumimoji="1" lang="en-US" altLang="ja-JP" sz="1200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| </a:t>
            </a:r>
            <a:r>
              <a:rPr kumimoji="1" lang="ja-JP" altLang="en-US" sz="1200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リソース配置と初期化・検証は </a:t>
            </a:r>
            <a:r>
              <a:rPr kumimoji="1" lang="en-US" altLang="ja-JP" sz="1200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Azure </a:t>
            </a:r>
            <a:r>
              <a:rPr kumimoji="1" lang="ja-JP" altLang="en-US" sz="1200">
                <a:solidFill>
                  <a:srgbClr val="52657A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側で実行</a:t>
            </a:r>
          </a:p>
        </p:txBody>
      </p:sp>
      <p:cxnSp>
        <p:nvCxnSpPr>
          <p:cNvPr id="111" name="legend:management">
            <a:extLst>
              <a:ext uri="{FF2B5EF4-FFF2-40B4-BE49-F238E27FC236}">
                <a16:creationId xmlns:a16="http://schemas.microsoft.com/office/drawing/2014/main" id="{34417B9D-CF4E-205A-6756-E8AEA7CFA7AE}"/>
              </a:ext>
            </a:extLst>
          </p:cNvPr>
          <p:cNvCxnSpPr/>
          <p:nvPr/>
        </p:nvCxnSpPr>
        <p:spPr>
          <a:xfrm>
            <a:off x="457200" y="10382250"/>
            <a:ext cx="381000" cy="0"/>
          </a:xfrm>
          <a:prstGeom prst="straightConnector1">
            <a:avLst/>
          </a:prstGeom>
          <a:ln w="17145">
            <a:solidFill>
              <a:srgbClr val="64748B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legend-label:management">
            <a:extLst>
              <a:ext uri="{FF2B5EF4-FFF2-40B4-BE49-F238E27FC236}">
                <a16:creationId xmlns:a16="http://schemas.microsoft.com/office/drawing/2014/main" id="{4924EB69-6746-CDAD-2586-6A986F685CF5}"/>
              </a:ext>
            </a:extLst>
          </p:cNvPr>
          <p:cNvSpPr txBox="1"/>
          <p:nvPr/>
        </p:nvSpPr>
        <p:spPr>
          <a:xfrm>
            <a:off x="952500" y="10267950"/>
            <a:ext cx="133350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kumimoji="1" lang="ja-JP" altLang="en-US" sz="975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監視・管理</a:t>
            </a:r>
          </a:p>
        </p:txBody>
      </p:sp>
      <p:cxnSp>
        <p:nvCxnSpPr>
          <p:cNvPr id="113" name="legend:association">
            <a:extLst>
              <a:ext uri="{FF2B5EF4-FFF2-40B4-BE49-F238E27FC236}">
                <a16:creationId xmlns:a16="http://schemas.microsoft.com/office/drawing/2014/main" id="{E05C5284-01A6-8EFF-DD4F-9478B3F1D008}"/>
              </a:ext>
            </a:extLst>
          </p:cNvPr>
          <p:cNvCxnSpPr/>
          <p:nvPr/>
        </p:nvCxnSpPr>
        <p:spPr>
          <a:xfrm>
            <a:off x="2533650" y="10382250"/>
            <a:ext cx="381000" cy="0"/>
          </a:xfrm>
          <a:prstGeom prst="straightConnector1">
            <a:avLst/>
          </a:prstGeom>
          <a:ln w="17145" cap="rnd">
            <a:solidFill>
              <a:srgbClr val="7C3AED"/>
            </a:solidFill>
            <a:prstDash val="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legend-label:association">
            <a:extLst>
              <a:ext uri="{FF2B5EF4-FFF2-40B4-BE49-F238E27FC236}">
                <a16:creationId xmlns:a16="http://schemas.microsoft.com/office/drawing/2014/main" id="{B359E116-8004-01C5-A968-9BF4F0988A3A}"/>
              </a:ext>
            </a:extLst>
          </p:cNvPr>
          <p:cNvSpPr txBox="1"/>
          <p:nvPr/>
        </p:nvSpPr>
        <p:spPr>
          <a:xfrm>
            <a:off x="3028950" y="10267950"/>
            <a:ext cx="1333500" cy="2286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kumimoji="1" lang="ja-JP" altLang="en-US" sz="975">
                <a:solidFill>
                  <a:srgbClr val="172B4D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設定・関連</a:t>
            </a:r>
          </a:p>
        </p:txBody>
      </p:sp>
      <p:sp>
        <p:nvSpPr>
          <p:cNvPr id="115" name="footer">
            <a:extLst>
              <a:ext uri="{FF2B5EF4-FFF2-40B4-BE49-F238E27FC236}">
                <a16:creationId xmlns:a16="http://schemas.microsoft.com/office/drawing/2014/main" id="{39B407B0-6D21-7572-544D-41183D8FC61D}"/>
              </a:ext>
            </a:extLst>
          </p:cNvPr>
          <p:cNvSpPr txBox="1"/>
          <p:nvPr/>
        </p:nvSpPr>
        <p:spPr>
          <a:xfrm>
            <a:off x="457200" y="10658475"/>
            <a:ext cx="16230600" cy="24765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r>
              <a:rPr kumimoji="1" lang="ja-JP" altLang="en-US" sz="900">
                <a:solidFill>
                  <a:srgbClr val="64748B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ソース確認</a:t>
            </a:r>
            <a:r>
              <a:rPr kumimoji="1" lang="en-US" altLang="ja-JP" sz="900">
                <a:solidFill>
                  <a:srgbClr val="64748B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: 2026-09-19 | </a:t>
            </a:r>
            <a:r>
              <a:rPr kumimoji="1" lang="ja-JP" altLang="en-US" sz="900">
                <a:solidFill>
                  <a:srgbClr val="64748B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灰色は操作・処理の順序、紫は依存関係。図は論理フローで、全リソースの逐次実行を意味しません。</a:t>
            </a:r>
            <a:r>
              <a:rPr kumimoji="1" lang="en-US" altLang="ja-JP" sz="900">
                <a:solidFill>
                  <a:srgbClr val="64748B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Azure </a:t>
            </a:r>
            <a:r>
              <a:rPr kumimoji="1" lang="ja-JP" altLang="en-US" sz="900">
                <a:solidFill>
                  <a:srgbClr val="64748B"/>
                </a:solidFill>
                <a:latin typeface="Segoe UI" panose="020B0502040204020203" pitchFamily="34" charset="0"/>
                <a:ea typeface="Yu Gothic" panose="020B0400000000000000" pitchFamily="50" charset="-128"/>
              </a:rPr>
              <a:t>実環境の成否は未確認。</a:t>
            </a:r>
          </a:p>
        </p:txBody>
      </p:sp>
    </p:spTree>
    <p:extLst>
      <p:ext uri="{BB962C8B-B14F-4D97-AF65-F5344CB8AC3E}">
        <p14:creationId xmlns:p14="http://schemas.microsoft.com/office/powerpoint/2010/main" val="3080010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1565</Words>
  <Application>Microsoft Office PowerPoint</Application>
  <PresentationFormat>ユーザー設定</PresentationFormat>
  <Paragraphs>87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游ゴシック</vt:lpstr>
      <vt:lpstr>游ゴシック Light</vt:lpstr>
      <vt:lpstr>Arial</vt:lpstr>
      <vt:lpstr>Segoe UI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creator/>
  <cp:lastModifiedBy/>
  <cp:revision>2</cp:revision>
  <dcterms:created xsi:type="dcterms:W3CDTF">2026-09-19T08:48:13Z</dcterms:created>
  <dcterms:modified xsi:type="dcterms:W3CDTF">2026-09-19T09:54:27Z</dcterms:modified>
</cp:coreProperties>
</file>